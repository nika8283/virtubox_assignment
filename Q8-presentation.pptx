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3" r:id="rId4"/>
    <p:sldMasterId id="2147483664"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h4d117d698b2d507e_3_1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h4d117d698b2d507e_3_1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Open with the problem in plain words: our sales look healthy, but they depend heavily on a small group of customers and on one short season. Three numbers frame the talk: the top 20% of customers bring in about 74% of customer revenue; three autumn months bring in about 36% of all revenue; and about GBP 1.0 million came from valuable customers who have gone quiet. The rest of the deck explains where these numbers come from and what to do about them.</a:t>
            </a:r>
            <a:endParaRPr/>
          </a:p>
        </p:txBody>
      </p:sp>
      <p:sp>
        <p:nvSpPr>
          <p:cNvPr id="68" name="Google Shape;68;h4d117d698b2d507e_3_1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4d117d698b2d507e_3_3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h4d117d698b2d507e_3_3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Keep this simple. We used a public record of every order line from a UK online gift-ware wholesaler, about 540 thousand lines over 13 months. It behaves like a B2B sales ledger because many buyers are trade customers. We cleaned it (duplicates, cancellations, postage and fee codes), added useful fields such as revenue and weekday, and then looked at trends, customer groups, UK versus export and returns. Customers without an ID (about 15% of revenue) stay in the revenue totals but are left out of customer-level findings.</a:t>
            </a:r>
            <a:endParaRPr/>
          </a:p>
        </p:txBody>
      </p:sp>
      <p:sp>
        <p:nvSpPr>
          <p:cNvPr id="89" name="Google Shape;89;h4d117d698b2d507e_3_3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h4d117d698b2d507e_3_7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h4d117d698b2d507e_3_7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Walk through the five facts top to bottom. 1) Seasonality: three autumn months bring in over a third of revenue. 2) Concentration: a small group of customers carries the business. 3) Retention: customers who come back are worth about eight times one-time buyers. 4) Risk: 643 valuable customers have gone quiet. 5) Timing: orders cluster in mid-week office hours. The chart shows the autumn peak clearly; December 2011 looks low only because the data stops on 9 December.</a:t>
            </a:r>
            <a:endParaRPr/>
          </a:p>
        </p:txBody>
      </p:sp>
      <p:sp>
        <p:nvSpPr>
          <p:cNvPr id="131" name="Google Shape;131;h4d117d698b2d507e_3_7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4d117d698b2d507e_3_9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h4d117d698b2d507e_3_9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most important finding. Grey bars show each group's share of customers; teal bars show its share of revenue. Champions are 30% of customers but 75% of revenue. At-risk customers used to buy often and spend well, but have not ordered for about 118 days, versus 17 days for Champions. That is recoverable revenue management can act on now. The 250k figure assumes we win back one in four at their historical spend; it is an estimate, not a forecast.</a:t>
            </a:r>
            <a:endParaRPr/>
          </a:p>
        </p:txBody>
      </p:sp>
      <p:sp>
        <p:nvSpPr>
          <p:cNvPr id="154" name="Google Shape;154;h4d117d698b2d507e_3_9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4d117d698b2d507e_3_11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h4d117d698b2d507e_3_11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Recommendations are ordered by business impact and ease of doing. Number 1 is the quickest win: a defined list of valuable customers who have gone quiet, so sales can start calling this month. Number 2 protects the accounts that carry the business. Number 3 is a planning discipline that pays off every year; stock and staffing decisions for the autumn need to be made by July.</a:t>
            </a:r>
            <a:endParaRPr/>
          </a:p>
        </p:txBody>
      </p:sp>
      <p:sp>
        <p:nvSpPr>
          <p:cNvPr id="173" name="Google Shape;173;h4d117d698b2d507e_3_11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h4d117d698b2d507e_3_15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h4d117d698b2d507e_3_15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Each recommendation has a number we can track. The 250k is an estimate based on historical spending, not a promise. We would agree a baseline for each measure before launching, then review monthly. The easiest to start is the win-back list because success is simply whether quiet customers place an order again within 90 days.</a:t>
            </a:r>
            <a:endParaRPr/>
          </a:p>
        </p:txBody>
      </p:sp>
      <p:sp>
        <p:nvSpPr>
          <p:cNvPr id="210" name="Google Shape;210;h4d117d698b2d507e_3_15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h4d117d698b2d507e_3_18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h4d117d698b2d507e_3_18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Be upfront about what the data cannot tell us. It covers one autumn, has no cost or margin data, and 15% of revenue is not tied to a customer. The export result is the surprise of the analysis: export orders look much larger on average, but a handful of accounts drive it, and we cannot say export is more profitable. The next steps close those gaps: add cost data, add a second year, add customer detail, and run a small win-back pilot to test the biggest recommendation.</a:t>
            </a:r>
            <a:endParaRPr/>
          </a:p>
        </p:txBody>
      </p:sp>
      <p:sp>
        <p:nvSpPr>
          <p:cNvPr id="241" name="Google Shape;241;h4d117d698b2d507e_3_18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_HERO">
  <p:cSld name="DARK_HERO">
    <p:bg>
      <p:bgPr>
        <a:solidFill>
          <a:schemeClr val="dk2"/>
        </a:solidFill>
      </p:bgPr>
    </p:bg>
    <p:spTree>
      <p:nvGrpSpPr>
        <p:cNvPr id="52" name="Shape 52"/>
        <p:cNvGrpSpPr/>
        <p:nvPr/>
      </p:nvGrpSpPr>
      <p:grpSpPr>
        <a:xfrm>
          <a:off x="0" y="0"/>
          <a:ext cx="0" cy="0"/>
          <a:chOff x="0" y="0"/>
          <a:chExt cx="0" cy="0"/>
        </a:xfrm>
      </p:grpSpPr>
      <p:sp>
        <p:nvSpPr>
          <p:cNvPr id="53" name="Google Shape;53;p14"/>
          <p:cNvSpPr txBox="1"/>
          <p:nvPr>
            <p:ph type="title"/>
          </p:nvPr>
        </p:nvSpPr>
        <p:spPr>
          <a:xfrm>
            <a:off x="411480" y="925830"/>
            <a:ext cx="4937760" cy="144018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lt1"/>
              </a:buClr>
              <a:buSzPts val="3000"/>
              <a:buFont typeface="Cambria"/>
              <a:buNone/>
              <a:defRPr b="1" i="0" sz="3000" u="none" cap="none" strike="noStrike">
                <a:solidFill>
                  <a:schemeClr val="lt1"/>
                </a:solidFill>
                <a:latin typeface="Cambria"/>
                <a:ea typeface="Cambria"/>
                <a:cs typeface="Cambria"/>
                <a:sym typeface="Cambr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4" name="Google Shape;54;p14"/>
          <p:cNvSpPr/>
          <p:nvPr/>
        </p:nvSpPr>
        <p:spPr>
          <a:xfrm>
            <a:off x="411480" y="4800600"/>
            <a:ext cx="34290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800"/>
              <a:buFont typeface="Calibri"/>
              <a:buNone/>
            </a:pPr>
            <a:r>
              <a:rPr b="0" i="0" lang="en" sz="800" u="none" cap="none" strike="noStrike">
                <a:solidFill>
                  <a:schemeClr val="accent6"/>
                </a:solidFill>
                <a:latin typeface="Calibri"/>
                <a:ea typeface="Calibri"/>
                <a:cs typeface="Calibri"/>
                <a:sym typeface="Calibri"/>
              </a:rPr>
              <a:t>Online Retail Sales Review</a:t>
            </a:r>
            <a:endParaRPr b="0" i="0" sz="800" u="none" cap="none" strike="noStrike">
              <a:solidFill>
                <a:schemeClr val="dk1"/>
              </a:solidFill>
              <a:latin typeface="Calibri"/>
              <a:ea typeface="Calibri"/>
              <a:cs typeface="Calibri"/>
              <a:sym typeface="Calibri"/>
            </a:endParaRPr>
          </a:p>
        </p:txBody>
      </p:sp>
      <p:sp>
        <p:nvSpPr>
          <p:cNvPr id="55" name="Google Shape;55;p14"/>
          <p:cNvSpPr txBox="1"/>
          <p:nvPr>
            <p:ph idx="12" type="sldNum"/>
          </p:nvPr>
        </p:nvSpPr>
        <p:spPr>
          <a:xfrm>
            <a:off x="8298180" y="4800600"/>
            <a:ext cx="411480" cy="205740"/>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0" sz="800" u="none" cap="none" strike="noStrike">
                <a:solidFill>
                  <a:schemeClr val="accent6"/>
                </a:solidFill>
                <a:latin typeface="Calibri"/>
                <a:ea typeface="Calibri"/>
                <a:cs typeface="Calibri"/>
                <a:sym typeface="Calibri"/>
              </a:defRPr>
            </a:lvl1pPr>
            <a:lvl2pPr indent="0" lvl="1" marL="0" marR="0" algn="r">
              <a:spcBef>
                <a:spcPts val="0"/>
              </a:spcBef>
              <a:buNone/>
              <a:defRPr b="0" i="0" sz="800" u="none" cap="none" strike="noStrike">
                <a:solidFill>
                  <a:schemeClr val="accent6"/>
                </a:solidFill>
                <a:latin typeface="Calibri"/>
                <a:ea typeface="Calibri"/>
                <a:cs typeface="Calibri"/>
                <a:sym typeface="Calibri"/>
              </a:defRPr>
            </a:lvl2pPr>
            <a:lvl3pPr indent="0" lvl="2" marL="0" marR="0" algn="r">
              <a:spcBef>
                <a:spcPts val="0"/>
              </a:spcBef>
              <a:buNone/>
              <a:defRPr b="0" i="0" sz="800" u="none" cap="none" strike="noStrike">
                <a:solidFill>
                  <a:schemeClr val="accent6"/>
                </a:solidFill>
                <a:latin typeface="Calibri"/>
                <a:ea typeface="Calibri"/>
                <a:cs typeface="Calibri"/>
                <a:sym typeface="Calibri"/>
              </a:defRPr>
            </a:lvl3pPr>
            <a:lvl4pPr indent="0" lvl="3" marL="0" marR="0" algn="r">
              <a:spcBef>
                <a:spcPts val="0"/>
              </a:spcBef>
              <a:buNone/>
              <a:defRPr b="0" i="0" sz="800" u="none" cap="none" strike="noStrike">
                <a:solidFill>
                  <a:schemeClr val="accent6"/>
                </a:solidFill>
                <a:latin typeface="Calibri"/>
                <a:ea typeface="Calibri"/>
                <a:cs typeface="Calibri"/>
                <a:sym typeface="Calibri"/>
              </a:defRPr>
            </a:lvl4pPr>
            <a:lvl5pPr indent="0" lvl="4" marL="0" marR="0" algn="r">
              <a:spcBef>
                <a:spcPts val="0"/>
              </a:spcBef>
              <a:buNone/>
              <a:defRPr b="0" i="0" sz="800" u="none" cap="none" strike="noStrike">
                <a:solidFill>
                  <a:schemeClr val="accent6"/>
                </a:solidFill>
                <a:latin typeface="Calibri"/>
                <a:ea typeface="Calibri"/>
                <a:cs typeface="Calibri"/>
                <a:sym typeface="Calibri"/>
              </a:defRPr>
            </a:lvl5pPr>
            <a:lvl6pPr indent="0" lvl="5" marL="0" marR="0" algn="r">
              <a:spcBef>
                <a:spcPts val="0"/>
              </a:spcBef>
              <a:buNone/>
              <a:defRPr b="0" i="0" sz="800" u="none" cap="none" strike="noStrike">
                <a:solidFill>
                  <a:schemeClr val="accent6"/>
                </a:solidFill>
                <a:latin typeface="Calibri"/>
                <a:ea typeface="Calibri"/>
                <a:cs typeface="Calibri"/>
                <a:sym typeface="Calibri"/>
              </a:defRPr>
            </a:lvl6pPr>
            <a:lvl7pPr indent="0" lvl="6" marL="0" marR="0" algn="r">
              <a:spcBef>
                <a:spcPts val="0"/>
              </a:spcBef>
              <a:buNone/>
              <a:defRPr b="0" i="0" sz="800" u="none" cap="none" strike="noStrike">
                <a:solidFill>
                  <a:schemeClr val="accent6"/>
                </a:solidFill>
                <a:latin typeface="Calibri"/>
                <a:ea typeface="Calibri"/>
                <a:cs typeface="Calibri"/>
                <a:sym typeface="Calibri"/>
              </a:defRPr>
            </a:lvl7pPr>
            <a:lvl8pPr indent="0" lvl="7" marL="0" marR="0" algn="r">
              <a:spcBef>
                <a:spcPts val="0"/>
              </a:spcBef>
              <a:buNone/>
              <a:defRPr b="0" i="0" sz="800" u="none" cap="none" strike="noStrike">
                <a:solidFill>
                  <a:schemeClr val="accent6"/>
                </a:solidFill>
                <a:latin typeface="Calibri"/>
                <a:ea typeface="Calibri"/>
                <a:cs typeface="Calibri"/>
                <a:sym typeface="Calibri"/>
              </a:defRPr>
            </a:lvl8pPr>
            <a:lvl9pPr indent="0" lvl="8" marL="0" marR="0" algn="r">
              <a:spcBef>
                <a:spcPts val="0"/>
              </a:spcBef>
              <a:buNone/>
              <a:defRPr b="0" i="0" sz="8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_TITLE_ONLY">
  <p:cSld name="LIGHT_TITLE_ONLY">
    <p:bg>
      <p:bgPr>
        <a:solidFill>
          <a:schemeClr val="lt1"/>
        </a:solidFill>
      </p:bgPr>
    </p:bg>
    <p:spTree>
      <p:nvGrpSpPr>
        <p:cNvPr id="56" name="Shape 56"/>
        <p:cNvGrpSpPr/>
        <p:nvPr/>
      </p:nvGrpSpPr>
      <p:grpSpPr>
        <a:xfrm>
          <a:off x="0" y="0"/>
          <a:ext cx="0" cy="0"/>
          <a:chOff x="0" y="0"/>
          <a:chExt cx="0" cy="0"/>
        </a:xfrm>
      </p:grpSpPr>
      <p:sp>
        <p:nvSpPr>
          <p:cNvPr id="57" name="Google Shape;57;p15"/>
          <p:cNvSpPr txBox="1"/>
          <p:nvPr>
            <p:ph type="title"/>
          </p:nvPr>
        </p:nvSpPr>
        <p:spPr>
          <a:xfrm>
            <a:off x="411480" y="274320"/>
            <a:ext cx="8298180" cy="61722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dk2"/>
              </a:buClr>
              <a:buSzPts val="2700"/>
              <a:buFont typeface="Cambria"/>
              <a:buNone/>
              <a:defRPr b="1" i="0" sz="2700" u="none" cap="none" strike="noStrike">
                <a:solidFill>
                  <a:schemeClr val="dk2"/>
                </a:solidFill>
                <a:latin typeface="Cambria"/>
                <a:ea typeface="Cambria"/>
                <a:cs typeface="Cambria"/>
                <a:sym typeface="Cambr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8" name="Google Shape;58;p15"/>
          <p:cNvSpPr/>
          <p:nvPr/>
        </p:nvSpPr>
        <p:spPr>
          <a:xfrm>
            <a:off x="411480" y="4800600"/>
            <a:ext cx="34290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0" i="0" lang="en" sz="800" u="none" cap="none" strike="noStrike">
                <a:solidFill>
                  <a:schemeClr val="accent4"/>
                </a:solidFill>
                <a:latin typeface="Calibri"/>
                <a:ea typeface="Calibri"/>
                <a:cs typeface="Calibri"/>
                <a:sym typeface="Calibri"/>
              </a:rPr>
              <a:t>Online Retail Sales Review</a:t>
            </a:r>
            <a:endParaRPr b="0" i="0" sz="800" u="none" cap="none" strike="noStrike">
              <a:solidFill>
                <a:schemeClr val="dk1"/>
              </a:solidFill>
              <a:latin typeface="Calibri"/>
              <a:ea typeface="Calibri"/>
              <a:cs typeface="Calibri"/>
              <a:sym typeface="Calibri"/>
            </a:endParaRPr>
          </a:p>
        </p:txBody>
      </p:sp>
      <p:sp>
        <p:nvSpPr>
          <p:cNvPr id="59" name="Google Shape;59;p15"/>
          <p:cNvSpPr txBox="1"/>
          <p:nvPr>
            <p:ph idx="12" type="sldNum"/>
          </p:nvPr>
        </p:nvSpPr>
        <p:spPr>
          <a:xfrm>
            <a:off x="8298180" y="4800600"/>
            <a:ext cx="411480" cy="205740"/>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0" sz="800" u="none" cap="none" strike="noStrike">
                <a:solidFill>
                  <a:schemeClr val="accent4"/>
                </a:solidFill>
                <a:latin typeface="Calibri"/>
                <a:ea typeface="Calibri"/>
                <a:cs typeface="Calibri"/>
                <a:sym typeface="Calibri"/>
              </a:defRPr>
            </a:lvl1pPr>
            <a:lvl2pPr indent="0" lvl="1" marL="0" marR="0" algn="r">
              <a:spcBef>
                <a:spcPts val="0"/>
              </a:spcBef>
              <a:buNone/>
              <a:defRPr b="0" i="0" sz="800" u="none" cap="none" strike="noStrike">
                <a:solidFill>
                  <a:schemeClr val="accent4"/>
                </a:solidFill>
                <a:latin typeface="Calibri"/>
                <a:ea typeface="Calibri"/>
                <a:cs typeface="Calibri"/>
                <a:sym typeface="Calibri"/>
              </a:defRPr>
            </a:lvl2pPr>
            <a:lvl3pPr indent="0" lvl="2" marL="0" marR="0" algn="r">
              <a:spcBef>
                <a:spcPts val="0"/>
              </a:spcBef>
              <a:buNone/>
              <a:defRPr b="0" i="0" sz="800" u="none" cap="none" strike="noStrike">
                <a:solidFill>
                  <a:schemeClr val="accent4"/>
                </a:solidFill>
                <a:latin typeface="Calibri"/>
                <a:ea typeface="Calibri"/>
                <a:cs typeface="Calibri"/>
                <a:sym typeface="Calibri"/>
              </a:defRPr>
            </a:lvl3pPr>
            <a:lvl4pPr indent="0" lvl="3" marL="0" marR="0" algn="r">
              <a:spcBef>
                <a:spcPts val="0"/>
              </a:spcBef>
              <a:buNone/>
              <a:defRPr b="0" i="0" sz="800" u="none" cap="none" strike="noStrike">
                <a:solidFill>
                  <a:schemeClr val="accent4"/>
                </a:solidFill>
                <a:latin typeface="Calibri"/>
                <a:ea typeface="Calibri"/>
                <a:cs typeface="Calibri"/>
                <a:sym typeface="Calibri"/>
              </a:defRPr>
            </a:lvl4pPr>
            <a:lvl5pPr indent="0" lvl="4" marL="0" marR="0" algn="r">
              <a:spcBef>
                <a:spcPts val="0"/>
              </a:spcBef>
              <a:buNone/>
              <a:defRPr b="0" i="0" sz="800" u="none" cap="none" strike="noStrike">
                <a:solidFill>
                  <a:schemeClr val="accent4"/>
                </a:solidFill>
                <a:latin typeface="Calibri"/>
                <a:ea typeface="Calibri"/>
                <a:cs typeface="Calibri"/>
                <a:sym typeface="Calibri"/>
              </a:defRPr>
            </a:lvl5pPr>
            <a:lvl6pPr indent="0" lvl="5" marL="0" marR="0" algn="r">
              <a:spcBef>
                <a:spcPts val="0"/>
              </a:spcBef>
              <a:buNone/>
              <a:defRPr b="0" i="0" sz="800" u="none" cap="none" strike="noStrike">
                <a:solidFill>
                  <a:schemeClr val="accent4"/>
                </a:solidFill>
                <a:latin typeface="Calibri"/>
                <a:ea typeface="Calibri"/>
                <a:cs typeface="Calibri"/>
                <a:sym typeface="Calibri"/>
              </a:defRPr>
            </a:lvl6pPr>
            <a:lvl7pPr indent="0" lvl="6" marL="0" marR="0" algn="r">
              <a:spcBef>
                <a:spcPts val="0"/>
              </a:spcBef>
              <a:buNone/>
              <a:defRPr b="0" i="0" sz="800" u="none" cap="none" strike="noStrike">
                <a:solidFill>
                  <a:schemeClr val="accent4"/>
                </a:solidFill>
                <a:latin typeface="Calibri"/>
                <a:ea typeface="Calibri"/>
                <a:cs typeface="Calibri"/>
                <a:sym typeface="Calibri"/>
              </a:defRPr>
            </a:lvl7pPr>
            <a:lvl8pPr indent="0" lvl="7" marL="0" marR="0" algn="r">
              <a:spcBef>
                <a:spcPts val="0"/>
              </a:spcBef>
              <a:buNone/>
              <a:defRPr b="0" i="0" sz="800" u="none" cap="none" strike="noStrike">
                <a:solidFill>
                  <a:schemeClr val="accent4"/>
                </a:solidFill>
                <a:latin typeface="Calibri"/>
                <a:ea typeface="Calibri"/>
                <a:cs typeface="Calibri"/>
                <a:sym typeface="Calibri"/>
              </a:defRPr>
            </a:lvl8pPr>
            <a:lvl9pPr indent="0" lvl="8" marL="0" marR="0" algn="r">
              <a:spcBef>
                <a:spcPts val="0"/>
              </a:spcBef>
              <a:buNone/>
              <a:defRPr b="0" i="0" sz="800" u="none" cap="none" strike="noStrike">
                <a:solidFill>
                  <a:schemeClr val="accent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_TITLE_ONLY">
  <p:cSld name="DARK_TITLE_ONLY">
    <p:bg>
      <p:bgPr>
        <a:solidFill>
          <a:schemeClr val="dk2"/>
        </a:solidFill>
      </p:bgPr>
    </p:bg>
    <p:spTree>
      <p:nvGrpSpPr>
        <p:cNvPr id="60" name="Shape 60"/>
        <p:cNvGrpSpPr/>
        <p:nvPr/>
      </p:nvGrpSpPr>
      <p:grpSpPr>
        <a:xfrm>
          <a:off x="0" y="0"/>
          <a:ext cx="0" cy="0"/>
          <a:chOff x="0" y="0"/>
          <a:chExt cx="0" cy="0"/>
        </a:xfrm>
      </p:grpSpPr>
      <p:sp>
        <p:nvSpPr>
          <p:cNvPr id="61" name="Google Shape;61;p16"/>
          <p:cNvSpPr txBox="1"/>
          <p:nvPr>
            <p:ph type="title"/>
          </p:nvPr>
        </p:nvSpPr>
        <p:spPr>
          <a:xfrm>
            <a:off x="411480" y="274320"/>
            <a:ext cx="8298180" cy="61722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Clr>
                <a:schemeClr val="lt1"/>
              </a:buClr>
              <a:buSzPts val="2700"/>
              <a:buFont typeface="Cambria"/>
              <a:buNone/>
              <a:defRPr b="1" i="0" sz="2700" u="none" cap="none" strike="noStrike">
                <a:solidFill>
                  <a:schemeClr val="lt1"/>
                </a:solidFill>
                <a:latin typeface="Cambria"/>
                <a:ea typeface="Cambria"/>
                <a:cs typeface="Cambria"/>
                <a:sym typeface="Cambri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2" name="Google Shape;62;p16"/>
          <p:cNvSpPr/>
          <p:nvPr/>
        </p:nvSpPr>
        <p:spPr>
          <a:xfrm>
            <a:off x="411480" y="4800600"/>
            <a:ext cx="34290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800"/>
              <a:buFont typeface="Calibri"/>
              <a:buNone/>
            </a:pPr>
            <a:r>
              <a:rPr b="0" i="0" lang="en" sz="800" u="none" cap="none" strike="noStrike">
                <a:solidFill>
                  <a:schemeClr val="accent6"/>
                </a:solidFill>
                <a:latin typeface="Calibri"/>
                <a:ea typeface="Calibri"/>
                <a:cs typeface="Calibri"/>
                <a:sym typeface="Calibri"/>
              </a:rPr>
              <a:t>Online Retail Sales Review</a:t>
            </a:r>
            <a:endParaRPr b="0" i="0" sz="800" u="none" cap="none" strike="noStrike">
              <a:solidFill>
                <a:schemeClr val="dk1"/>
              </a:solidFill>
              <a:latin typeface="Calibri"/>
              <a:ea typeface="Calibri"/>
              <a:cs typeface="Calibri"/>
              <a:sym typeface="Calibri"/>
            </a:endParaRPr>
          </a:p>
        </p:txBody>
      </p:sp>
      <p:sp>
        <p:nvSpPr>
          <p:cNvPr id="63" name="Google Shape;63;p16"/>
          <p:cNvSpPr txBox="1"/>
          <p:nvPr>
            <p:ph idx="12" type="sldNum"/>
          </p:nvPr>
        </p:nvSpPr>
        <p:spPr>
          <a:xfrm>
            <a:off x="8298180" y="4800600"/>
            <a:ext cx="411480" cy="205740"/>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0" sz="800" u="none" cap="none" strike="noStrike">
                <a:solidFill>
                  <a:schemeClr val="accent6"/>
                </a:solidFill>
                <a:latin typeface="Calibri"/>
                <a:ea typeface="Calibri"/>
                <a:cs typeface="Calibri"/>
                <a:sym typeface="Calibri"/>
              </a:defRPr>
            </a:lvl1pPr>
            <a:lvl2pPr indent="0" lvl="1" marL="0" marR="0" algn="r">
              <a:spcBef>
                <a:spcPts val="0"/>
              </a:spcBef>
              <a:buNone/>
              <a:defRPr b="0" i="0" sz="800" u="none" cap="none" strike="noStrike">
                <a:solidFill>
                  <a:schemeClr val="accent6"/>
                </a:solidFill>
                <a:latin typeface="Calibri"/>
                <a:ea typeface="Calibri"/>
                <a:cs typeface="Calibri"/>
                <a:sym typeface="Calibri"/>
              </a:defRPr>
            </a:lvl2pPr>
            <a:lvl3pPr indent="0" lvl="2" marL="0" marR="0" algn="r">
              <a:spcBef>
                <a:spcPts val="0"/>
              </a:spcBef>
              <a:buNone/>
              <a:defRPr b="0" i="0" sz="800" u="none" cap="none" strike="noStrike">
                <a:solidFill>
                  <a:schemeClr val="accent6"/>
                </a:solidFill>
                <a:latin typeface="Calibri"/>
                <a:ea typeface="Calibri"/>
                <a:cs typeface="Calibri"/>
                <a:sym typeface="Calibri"/>
              </a:defRPr>
            </a:lvl3pPr>
            <a:lvl4pPr indent="0" lvl="3" marL="0" marR="0" algn="r">
              <a:spcBef>
                <a:spcPts val="0"/>
              </a:spcBef>
              <a:buNone/>
              <a:defRPr b="0" i="0" sz="800" u="none" cap="none" strike="noStrike">
                <a:solidFill>
                  <a:schemeClr val="accent6"/>
                </a:solidFill>
                <a:latin typeface="Calibri"/>
                <a:ea typeface="Calibri"/>
                <a:cs typeface="Calibri"/>
                <a:sym typeface="Calibri"/>
              </a:defRPr>
            </a:lvl4pPr>
            <a:lvl5pPr indent="0" lvl="4" marL="0" marR="0" algn="r">
              <a:spcBef>
                <a:spcPts val="0"/>
              </a:spcBef>
              <a:buNone/>
              <a:defRPr b="0" i="0" sz="800" u="none" cap="none" strike="noStrike">
                <a:solidFill>
                  <a:schemeClr val="accent6"/>
                </a:solidFill>
                <a:latin typeface="Calibri"/>
                <a:ea typeface="Calibri"/>
                <a:cs typeface="Calibri"/>
                <a:sym typeface="Calibri"/>
              </a:defRPr>
            </a:lvl5pPr>
            <a:lvl6pPr indent="0" lvl="5" marL="0" marR="0" algn="r">
              <a:spcBef>
                <a:spcPts val="0"/>
              </a:spcBef>
              <a:buNone/>
              <a:defRPr b="0" i="0" sz="800" u="none" cap="none" strike="noStrike">
                <a:solidFill>
                  <a:schemeClr val="accent6"/>
                </a:solidFill>
                <a:latin typeface="Calibri"/>
                <a:ea typeface="Calibri"/>
                <a:cs typeface="Calibri"/>
                <a:sym typeface="Calibri"/>
              </a:defRPr>
            </a:lvl6pPr>
            <a:lvl7pPr indent="0" lvl="6" marL="0" marR="0" algn="r">
              <a:spcBef>
                <a:spcPts val="0"/>
              </a:spcBef>
              <a:buNone/>
              <a:defRPr b="0" i="0" sz="800" u="none" cap="none" strike="noStrike">
                <a:solidFill>
                  <a:schemeClr val="accent6"/>
                </a:solidFill>
                <a:latin typeface="Calibri"/>
                <a:ea typeface="Calibri"/>
                <a:cs typeface="Calibri"/>
                <a:sym typeface="Calibri"/>
              </a:defRPr>
            </a:lvl7pPr>
            <a:lvl8pPr indent="0" lvl="7" marL="0" marR="0" algn="r">
              <a:spcBef>
                <a:spcPts val="0"/>
              </a:spcBef>
              <a:buNone/>
              <a:defRPr b="0" i="0" sz="800" u="none" cap="none" strike="noStrike">
                <a:solidFill>
                  <a:schemeClr val="accent6"/>
                </a:solidFill>
                <a:latin typeface="Calibri"/>
                <a:ea typeface="Calibri"/>
                <a:cs typeface="Calibri"/>
                <a:sym typeface="Calibri"/>
              </a:defRPr>
            </a:lvl8pPr>
            <a:lvl9pPr indent="0" lvl="8" marL="0" marR="0" algn="r">
              <a:spcBef>
                <a:spcPts val="0"/>
              </a:spcBef>
              <a:buNone/>
              <a:defRPr b="0" i="0" sz="8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4" name="Shape 6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298180" y="4800600"/>
            <a:ext cx="411480" cy="205740"/>
          </a:xfrm>
          <a:prstGeom prst="rect">
            <a:avLst/>
          </a:prstGeom>
          <a:noFill/>
          <a:ln>
            <a:noFill/>
          </a:ln>
        </p:spPr>
        <p:txBody>
          <a:bodyPr anchorCtr="0" anchor="t" bIns="34275" lIns="68575" spcFirstLastPara="1" rIns="68575" wrap="square" tIns="34275">
            <a:noAutofit/>
          </a:bodyPr>
          <a:lstStyle>
            <a:lvl1pPr indent="0" lvl="0" marL="0" marR="0" rtl="0" algn="r">
              <a:spcBef>
                <a:spcPts val="0"/>
              </a:spcBef>
              <a:buNone/>
              <a:defRPr b="0" i="0" sz="800" u="none" cap="none" strike="noStrike">
                <a:solidFill>
                  <a:schemeClr val="accent4"/>
                </a:solidFill>
                <a:latin typeface="Calibri"/>
                <a:ea typeface="Calibri"/>
                <a:cs typeface="Calibri"/>
                <a:sym typeface="Calibri"/>
              </a:defRPr>
            </a:lvl1pPr>
            <a:lvl2pPr indent="0" lvl="1" marL="0" marR="0" rtl="0" algn="r">
              <a:spcBef>
                <a:spcPts val="0"/>
              </a:spcBef>
              <a:buNone/>
              <a:defRPr b="0" i="0" sz="800" u="none" cap="none" strike="noStrike">
                <a:solidFill>
                  <a:schemeClr val="accent4"/>
                </a:solidFill>
                <a:latin typeface="Calibri"/>
                <a:ea typeface="Calibri"/>
                <a:cs typeface="Calibri"/>
                <a:sym typeface="Calibri"/>
              </a:defRPr>
            </a:lvl2pPr>
            <a:lvl3pPr indent="0" lvl="2" marL="0" marR="0" rtl="0" algn="r">
              <a:spcBef>
                <a:spcPts val="0"/>
              </a:spcBef>
              <a:buNone/>
              <a:defRPr b="0" i="0" sz="800" u="none" cap="none" strike="noStrike">
                <a:solidFill>
                  <a:schemeClr val="accent4"/>
                </a:solidFill>
                <a:latin typeface="Calibri"/>
                <a:ea typeface="Calibri"/>
                <a:cs typeface="Calibri"/>
                <a:sym typeface="Calibri"/>
              </a:defRPr>
            </a:lvl3pPr>
            <a:lvl4pPr indent="0" lvl="3" marL="0" marR="0" rtl="0" algn="r">
              <a:spcBef>
                <a:spcPts val="0"/>
              </a:spcBef>
              <a:buNone/>
              <a:defRPr b="0" i="0" sz="800" u="none" cap="none" strike="noStrike">
                <a:solidFill>
                  <a:schemeClr val="accent4"/>
                </a:solidFill>
                <a:latin typeface="Calibri"/>
                <a:ea typeface="Calibri"/>
                <a:cs typeface="Calibri"/>
                <a:sym typeface="Calibri"/>
              </a:defRPr>
            </a:lvl4pPr>
            <a:lvl5pPr indent="0" lvl="4" marL="0" marR="0" rtl="0" algn="r">
              <a:spcBef>
                <a:spcPts val="0"/>
              </a:spcBef>
              <a:buNone/>
              <a:defRPr b="0" i="0" sz="800" u="none" cap="none" strike="noStrike">
                <a:solidFill>
                  <a:schemeClr val="accent4"/>
                </a:solidFill>
                <a:latin typeface="Calibri"/>
                <a:ea typeface="Calibri"/>
                <a:cs typeface="Calibri"/>
                <a:sym typeface="Calibri"/>
              </a:defRPr>
            </a:lvl5pPr>
            <a:lvl6pPr indent="0" lvl="5" marL="0" marR="0" rtl="0" algn="r">
              <a:spcBef>
                <a:spcPts val="0"/>
              </a:spcBef>
              <a:buNone/>
              <a:defRPr b="0" i="0" sz="800" u="none" cap="none" strike="noStrike">
                <a:solidFill>
                  <a:schemeClr val="accent4"/>
                </a:solidFill>
                <a:latin typeface="Calibri"/>
                <a:ea typeface="Calibri"/>
                <a:cs typeface="Calibri"/>
                <a:sym typeface="Calibri"/>
              </a:defRPr>
            </a:lvl6pPr>
            <a:lvl7pPr indent="0" lvl="6" marL="0" marR="0" rtl="0" algn="r">
              <a:spcBef>
                <a:spcPts val="0"/>
              </a:spcBef>
              <a:buNone/>
              <a:defRPr b="0" i="0" sz="800" u="none" cap="none" strike="noStrike">
                <a:solidFill>
                  <a:schemeClr val="accent4"/>
                </a:solidFill>
                <a:latin typeface="Calibri"/>
                <a:ea typeface="Calibri"/>
                <a:cs typeface="Calibri"/>
                <a:sym typeface="Calibri"/>
              </a:defRPr>
            </a:lvl7pPr>
            <a:lvl8pPr indent="0" lvl="7" marL="0" marR="0" rtl="0" algn="r">
              <a:spcBef>
                <a:spcPts val="0"/>
              </a:spcBef>
              <a:buNone/>
              <a:defRPr b="0" i="0" sz="800" u="none" cap="none" strike="noStrike">
                <a:solidFill>
                  <a:schemeClr val="accent4"/>
                </a:solidFill>
                <a:latin typeface="Calibri"/>
                <a:ea typeface="Calibri"/>
                <a:cs typeface="Calibri"/>
                <a:sym typeface="Calibri"/>
              </a:defRPr>
            </a:lvl8pPr>
            <a:lvl9pPr indent="0" lvl="8" marL="0" marR="0" rtl="0" algn="r">
              <a:spcBef>
                <a:spcPts val="0"/>
              </a:spcBef>
              <a:buNone/>
              <a:defRPr b="0" i="0" sz="800" u="none" cap="none" strike="noStrike">
                <a:solidFill>
                  <a:schemeClr val="accent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8"/>
          <p:cNvSpPr txBox="1"/>
          <p:nvPr/>
        </p:nvSpPr>
        <p:spPr>
          <a:xfrm>
            <a:off x="411480" y="377190"/>
            <a:ext cx="617220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900"/>
              <a:buFont typeface="Calibri"/>
              <a:buNone/>
            </a:pPr>
            <a:r>
              <a:rPr b="1" i="0" lang="en" sz="900" u="none" cap="none" strike="noStrike">
                <a:solidFill>
                  <a:schemeClr val="accent2"/>
                </a:solidFill>
                <a:latin typeface="Calibri"/>
                <a:ea typeface="Calibri"/>
                <a:cs typeface="Calibri"/>
                <a:sym typeface="Calibri"/>
              </a:rPr>
              <a:t>ONLINE RETAIL SALES REVIEW  |  MANAGEMENT BRIEFING</a:t>
            </a:r>
            <a:endParaRPr b="0" i="0" sz="900" u="none" cap="none" strike="noStrike">
              <a:solidFill>
                <a:schemeClr val="dk1"/>
              </a:solidFill>
              <a:latin typeface="Calibri"/>
              <a:ea typeface="Calibri"/>
              <a:cs typeface="Calibri"/>
              <a:sym typeface="Calibri"/>
            </a:endParaRPr>
          </a:p>
        </p:txBody>
      </p:sp>
      <p:sp>
        <p:nvSpPr>
          <p:cNvPr id="71" name="Google Shape;71;p18"/>
          <p:cNvSpPr txBox="1"/>
          <p:nvPr/>
        </p:nvSpPr>
        <p:spPr>
          <a:xfrm>
            <a:off x="411480" y="603504"/>
            <a:ext cx="617220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900"/>
              <a:buFont typeface="Calibri"/>
              <a:buNone/>
            </a:pPr>
            <a:r>
              <a:rPr b="0" i="0" lang="en" sz="900" u="none" cap="none" strike="noStrike">
                <a:solidFill>
                  <a:schemeClr val="accent6"/>
                </a:solidFill>
                <a:latin typeface="Calibri"/>
                <a:ea typeface="Calibri"/>
                <a:cs typeface="Calibri"/>
                <a:sym typeface="Calibri"/>
              </a:rPr>
              <a:t>Niharika Goswami  |  VirtuBox Data Analyst Assessment</a:t>
            </a:r>
            <a:endParaRPr b="0" i="0" sz="900" u="none" cap="none" strike="noStrike">
              <a:solidFill>
                <a:schemeClr val="dk1"/>
              </a:solidFill>
              <a:latin typeface="Calibri"/>
              <a:ea typeface="Calibri"/>
              <a:cs typeface="Calibri"/>
              <a:sym typeface="Calibri"/>
            </a:endParaRPr>
          </a:p>
        </p:txBody>
      </p:sp>
      <p:sp>
        <p:nvSpPr>
          <p:cNvPr id="72" name="Google Shape;72;p18"/>
          <p:cNvSpPr txBox="1"/>
          <p:nvPr>
            <p:ph type="title"/>
          </p:nvPr>
        </p:nvSpPr>
        <p:spPr>
          <a:xfrm>
            <a:off x="411480" y="925830"/>
            <a:ext cx="4937760" cy="14401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3000"/>
              <a:buFont typeface="Cambria"/>
              <a:buNone/>
            </a:pPr>
            <a:r>
              <a:rPr b="1" lang="en" sz="3000">
                <a:solidFill>
                  <a:schemeClr val="lt1"/>
                </a:solidFill>
              </a:rPr>
              <a:t>Revenue leans on a few customers and one busy season</a:t>
            </a:r>
            <a:endParaRPr sz="3000"/>
          </a:p>
        </p:txBody>
      </p:sp>
      <p:sp>
        <p:nvSpPr>
          <p:cNvPr id="73" name="Google Shape;73;p18"/>
          <p:cNvSpPr txBox="1"/>
          <p:nvPr/>
        </p:nvSpPr>
        <p:spPr>
          <a:xfrm>
            <a:off x="411480" y="2503170"/>
            <a:ext cx="4800600" cy="2400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i="0" lang="en" sz="1100" u="none" cap="none" strike="noStrike">
                <a:solidFill>
                  <a:schemeClr val="accent2"/>
                </a:solidFill>
                <a:latin typeface="Calibri"/>
                <a:ea typeface="Calibri"/>
                <a:cs typeface="Calibri"/>
                <a:sym typeface="Calibri"/>
              </a:rPr>
              <a:t>The problem we investigated</a:t>
            </a:r>
            <a:endParaRPr b="0" i="0" sz="1100" u="none" cap="none" strike="noStrike">
              <a:solidFill>
                <a:schemeClr val="dk1"/>
              </a:solidFill>
              <a:latin typeface="Calibri"/>
              <a:ea typeface="Calibri"/>
              <a:cs typeface="Calibri"/>
              <a:sym typeface="Calibri"/>
            </a:endParaRPr>
          </a:p>
        </p:txBody>
      </p:sp>
      <p:sp>
        <p:nvSpPr>
          <p:cNvPr id="74" name="Google Shape;74;p18"/>
          <p:cNvSpPr txBox="1"/>
          <p:nvPr/>
        </p:nvSpPr>
        <p:spPr>
          <a:xfrm>
            <a:off x="411480" y="2777490"/>
            <a:ext cx="480060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Calibri"/>
              <a:buNone/>
            </a:pPr>
            <a:r>
              <a:rPr b="0" i="0" lang="en" sz="1200" u="none" cap="none" strike="noStrike">
                <a:solidFill>
                  <a:schemeClr val="lt1"/>
                </a:solidFill>
                <a:latin typeface="Calibri"/>
                <a:ea typeface="Calibri"/>
                <a:cs typeface="Calibri"/>
                <a:sym typeface="Calibri"/>
              </a:rPr>
              <a:t>Where does our revenue come from, which customers are valuable or drifting away, and when should we prepare? We studied 13 months of orders from a UK gift-ware wholesaler to find ways to protect and grow revenue.</a:t>
            </a:r>
            <a:endParaRPr b="0" i="0" sz="1200" u="none" cap="none" strike="noStrike">
              <a:solidFill>
                <a:schemeClr val="dk1"/>
              </a:solidFill>
              <a:latin typeface="Calibri"/>
              <a:ea typeface="Calibri"/>
              <a:cs typeface="Calibri"/>
              <a:sym typeface="Calibri"/>
            </a:endParaRPr>
          </a:p>
        </p:txBody>
      </p:sp>
      <p:sp>
        <p:nvSpPr>
          <p:cNvPr id="75" name="Google Shape;75;p18"/>
          <p:cNvSpPr txBox="1"/>
          <p:nvPr/>
        </p:nvSpPr>
        <p:spPr>
          <a:xfrm>
            <a:off x="411480" y="3840480"/>
            <a:ext cx="4800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i="0" lang="en" sz="1100" u="none" cap="none" strike="noStrike">
                <a:solidFill>
                  <a:schemeClr val="accent2"/>
                </a:solidFill>
                <a:latin typeface="Calibri"/>
                <a:ea typeface="Calibri"/>
                <a:cs typeface="Calibri"/>
                <a:sym typeface="Calibri"/>
              </a:rPr>
              <a:t>Questions we asked: </a:t>
            </a:r>
            <a:r>
              <a:rPr b="0" i="0" lang="en" sz="1100" u="none" cap="none" strike="noStrike">
                <a:solidFill>
                  <a:schemeClr val="accent6"/>
                </a:solidFill>
                <a:latin typeface="Calibri"/>
                <a:ea typeface="Calibri"/>
                <a:cs typeface="Calibri"/>
                <a:sym typeface="Calibri"/>
              </a:rPr>
              <a:t>When do sales peak? How concentrated are they? Which customers are at risk? Does export differ? When do customers order?</a:t>
            </a:r>
            <a:endParaRPr b="0" i="0" sz="1100" u="none" cap="none" strike="noStrike">
              <a:solidFill>
                <a:schemeClr val="dk1"/>
              </a:solidFill>
              <a:latin typeface="Calibri"/>
              <a:ea typeface="Calibri"/>
              <a:cs typeface="Calibri"/>
              <a:sym typeface="Calibri"/>
            </a:endParaRPr>
          </a:p>
        </p:txBody>
      </p:sp>
      <p:sp>
        <p:nvSpPr>
          <p:cNvPr id="76" name="Google Shape;76;p18"/>
          <p:cNvSpPr/>
          <p:nvPr/>
        </p:nvSpPr>
        <p:spPr>
          <a:xfrm>
            <a:off x="5760720" y="925830"/>
            <a:ext cx="2969514" cy="1097280"/>
          </a:xfrm>
          <a:prstGeom prst="roundRect">
            <a:avLst>
              <a:gd fmla="val 5000" name="adj"/>
            </a:avLst>
          </a:prstGeom>
          <a:solidFill>
            <a:schemeClr val="lt1">
              <a:alpha val="7843"/>
            </a:schemeClr>
          </a:solidFill>
          <a:ln cap="flat" cmpd="sng" w="12700">
            <a:solidFill>
              <a:schemeClr val="lt1">
                <a:alpha val="7843"/>
              </a:scheme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 name="Google Shape;77;p18"/>
          <p:cNvSpPr txBox="1"/>
          <p:nvPr/>
        </p:nvSpPr>
        <p:spPr>
          <a:xfrm>
            <a:off x="5932170" y="1028700"/>
            <a:ext cx="267462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3000"/>
              <a:buFont typeface="Calibri"/>
              <a:buNone/>
            </a:pPr>
            <a:r>
              <a:rPr b="1" i="0" lang="en" sz="3000" u="none" cap="none" strike="noStrike">
                <a:solidFill>
                  <a:schemeClr val="accent2"/>
                </a:solidFill>
                <a:latin typeface="Calibri"/>
                <a:ea typeface="Calibri"/>
                <a:cs typeface="Calibri"/>
                <a:sym typeface="Calibri"/>
              </a:rPr>
              <a:t>73.9%</a:t>
            </a:r>
            <a:endParaRPr b="0" i="0" sz="3000" u="none" cap="none" strike="noStrike">
              <a:solidFill>
                <a:schemeClr val="dk1"/>
              </a:solidFill>
              <a:latin typeface="Calibri"/>
              <a:ea typeface="Calibri"/>
              <a:cs typeface="Calibri"/>
              <a:sym typeface="Calibri"/>
            </a:endParaRPr>
          </a:p>
        </p:txBody>
      </p:sp>
      <p:sp>
        <p:nvSpPr>
          <p:cNvPr id="78" name="Google Shape;78;p18"/>
          <p:cNvSpPr txBox="1"/>
          <p:nvPr/>
        </p:nvSpPr>
        <p:spPr>
          <a:xfrm>
            <a:off x="5932170" y="1508760"/>
            <a:ext cx="2674620" cy="44577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100"/>
              <a:buFont typeface="Calibri"/>
              <a:buNone/>
            </a:pPr>
            <a:r>
              <a:rPr b="0" i="0" lang="en" sz="1100" u="none" cap="none" strike="noStrike">
                <a:solidFill>
                  <a:schemeClr val="lt1"/>
                </a:solidFill>
                <a:latin typeface="Calibri"/>
                <a:ea typeface="Calibri"/>
                <a:cs typeface="Calibri"/>
                <a:sym typeface="Calibri"/>
              </a:rPr>
              <a:t>of customer revenue comes from the top 20% of customers</a:t>
            </a:r>
            <a:endParaRPr b="0" i="0" sz="1100" u="none" cap="none" strike="noStrike">
              <a:solidFill>
                <a:schemeClr val="dk1"/>
              </a:solidFill>
              <a:latin typeface="Calibri"/>
              <a:ea typeface="Calibri"/>
              <a:cs typeface="Calibri"/>
              <a:sym typeface="Calibri"/>
            </a:endParaRPr>
          </a:p>
        </p:txBody>
      </p:sp>
      <p:sp>
        <p:nvSpPr>
          <p:cNvPr id="79" name="Google Shape;79;p18"/>
          <p:cNvSpPr/>
          <p:nvPr/>
        </p:nvSpPr>
        <p:spPr>
          <a:xfrm>
            <a:off x="5760720" y="2160270"/>
            <a:ext cx="2969514" cy="1097280"/>
          </a:xfrm>
          <a:prstGeom prst="roundRect">
            <a:avLst>
              <a:gd fmla="val 5000" name="adj"/>
            </a:avLst>
          </a:prstGeom>
          <a:solidFill>
            <a:schemeClr val="lt1">
              <a:alpha val="7843"/>
            </a:schemeClr>
          </a:solidFill>
          <a:ln cap="flat" cmpd="sng" w="12700">
            <a:solidFill>
              <a:schemeClr val="lt1">
                <a:alpha val="7843"/>
              </a:scheme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0" name="Google Shape;80;p18"/>
          <p:cNvSpPr txBox="1"/>
          <p:nvPr/>
        </p:nvSpPr>
        <p:spPr>
          <a:xfrm>
            <a:off x="5932170" y="2263140"/>
            <a:ext cx="267462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3000"/>
              <a:buFont typeface="Calibri"/>
              <a:buNone/>
            </a:pPr>
            <a:r>
              <a:rPr b="1" i="0" lang="en" sz="3000" u="none" cap="none" strike="noStrike">
                <a:solidFill>
                  <a:schemeClr val="accent2"/>
                </a:solidFill>
                <a:latin typeface="Calibri"/>
                <a:ea typeface="Calibri"/>
                <a:cs typeface="Calibri"/>
                <a:sym typeface="Calibri"/>
              </a:rPr>
              <a:t>35.8%</a:t>
            </a:r>
            <a:endParaRPr b="0" i="0" sz="3000" u="none" cap="none" strike="noStrike">
              <a:solidFill>
                <a:schemeClr val="dk1"/>
              </a:solidFill>
              <a:latin typeface="Calibri"/>
              <a:ea typeface="Calibri"/>
              <a:cs typeface="Calibri"/>
              <a:sym typeface="Calibri"/>
            </a:endParaRPr>
          </a:p>
        </p:txBody>
      </p:sp>
      <p:sp>
        <p:nvSpPr>
          <p:cNvPr id="81" name="Google Shape;81;p18"/>
          <p:cNvSpPr txBox="1"/>
          <p:nvPr/>
        </p:nvSpPr>
        <p:spPr>
          <a:xfrm>
            <a:off x="5932170" y="2743200"/>
            <a:ext cx="2674620" cy="44577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100"/>
              <a:buFont typeface="Calibri"/>
              <a:buNone/>
            </a:pPr>
            <a:r>
              <a:rPr b="0" i="0" lang="en" sz="1100" u="none" cap="none" strike="noStrike">
                <a:solidFill>
                  <a:schemeClr val="lt1"/>
                </a:solidFill>
                <a:latin typeface="Calibri"/>
                <a:ea typeface="Calibri"/>
                <a:cs typeface="Calibri"/>
                <a:sym typeface="Calibri"/>
              </a:rPr>
              <a:t>of all revenue was earned in just three months (Sep to Nov 2011)</a:t>
            </a:r>
            <a:endParaRPr b="0" i="0" sz="1100" u="none" cap="none" strike="noStrike">
              <a:solidFill>
                <a:schemeClr val="dk1"/>
              </a:solidFill>
              <a:latin typeface="Calibri"/>
              <a:ea typeface="Calibri"/>
              <a:cs typeface="Calibri"/>
              <a:sym typeface="Calibri"/>
            </a:endParaRPr>
          </a:p>
        </p:txBody>
      </p:sp>
      <p:sp>
        <p:nvSpPr>
          <p:cNvPr id="82" name="Google Shape;82;p18"/>
          <p:cNvSpPr/>
          <p:nvPr/>
        </p:nvSpPr>
        <p:spPr>
          <a:xfrm>
            <a:off x="5760720" y="3394710"/>
            <a:ext cx="2969514" cy="1097280"/>
          </a:xfrm>
          <a:prstGeom prst="roundRect">
            <a:avLst>
              <a:gd fmla="val 5000" name="adj"/>
            </a:avLst>
          </a:prstGeom>
          <a:solidFill>
            <a:schemeClr val="lt1">
              <a:alpha val="7843"/>
            </a:schemeClr>
          </a:solidFill>
          <a:ln cap="flat" cmpd="sng" w="12700">
            <a:solidFill>
              <a:schemeClr val="lt1">
                <a:alpha val="7843"/>
              </a:scheme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3" name="Google Shape;83;p18"/>
          <p:cNvSpPr txBox="1"/>
          <p:nvPr/>
        </p:nvSpPr>
        <p:spPr>
          <a:xfrm>
            <a:off x="5932170" y="3497580"/>
            <a:ext cx="267462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3000"/>
              <a:buFont typeface="Calibri"/>
              <a:buNone/>
            </a:pPr>
            <a:r>
              <a:rPr b="1" i="0" lang="en" sz="3000" u="none" cap="none" strike="noStrike">
                <a:solidFill>
                  <a:schemeClr val="accent2"/>
                </a:solidFill>
                <a:latin typeface="Calibri"/>
                <a:ea typeface="Calibri"/>
                <a:cs typeface="Calibri"/>
                <a:sym typeface="Calibri"/>
              </a:rPr>
              <a:t>£1.0M</a:t>
            </a:r>
            <a:endParaRPr b="0" i="0" sz="3000" u="none" cap="none" strike="noStrike">
              <a:solidFill>
                <a:schemeClr val="dk1"/>
              </a:solidFill>
              <a:latin typeface="Calibri"/>
              <a:ea typeface="Calibri"/>
              <a:cs typeface="Calibri"/>
              <a:sym typeface="Calibri"/>
            </a:endParaRPr>
          </a:p>
        </p:txBody>
      </p:sp>
      <p:sp>
        <p:nvSpPr>
          <p:cNvPr id="84" name="Google Shape;84;p18"/>
          <p:cNvSpPr txBox="1"/>
          <p:nvPr/>
        </p:nvSpPr>
        <p:spPr>
          <a:xfrm>
            <a:off x="5932170" y="3977640"/>
            <a:ext cx="2674620" cy="44577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100"/>
              <a:buFont typeface="Calibri"/>
              <a:buNone/>
            </a:pPr>
            <a:r>
              <a:rPr b="0" i="0" lang="en" sz="1100" u="none" cap="none" strike="noStrike">
                <a:solidFill>
                  <a:schemeClr val="lt1"/>
                </a:solidFill>
                <a:latin typeface="Calibri"/>
                <a:ea typeface="Calibri"/>
                <a:cs typeface="Calibri"/>
                <a:sym typeface="Calibri"/>
              </a:rPr>
              <a:t>was earned by 643 valuable customers who have gone quiet</a:t>
            </a:r>
            <a:endParaRPr b="0" i="0" sz="1100" u="none" cap="none" strike="noStrike">
              <a:solidFill>
                <a:schemeClr val="dk1"/>
              </a:solidFill>
              <a:latin typeface="Calibri"/>
              <a:ea typeface="Calibri"/>
              <a:cs typeface="Calibri"/>
              <a:sym typeface="Calibri"/>
            </a:endParaRPr>
          </a:p>
        </p:txBody>
      </p:sp>
      <p:sp>
        <p:nvSpPr>
          <p:cNvPr id="85" name="Google Shape;85;p18"/>
          <p:cNvSpPr txBox="1"/>
          <p:nvPr>
            <p:ph idx="4294967295" type="sldNum"/>
          </p:nvPr>
        </p:nvSpPr>
        <p:spPr>
          <a:xfrm>
            <a:off x="8298180" y="4800600"/>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800" u="none" cap="none" strike="noStrike">
                <a:solidFill>
                  <a:schemeClr val="accent6"/>
                </a:solidFill>
                <a:latin typeface="Calibri"/>
                <a:ea typeface="Calibri"/>
                <a:cs typeface="Calibri"/>
                <a:sym typeface="Calibri"/>
              </a:rPr>
              <a:t>‹#›</a:t>
            </a:fld>
            <a:endParaRPr b="0" i="0" sz="800" u="none" cap="none" strike="noStrike">
              <a:solidFill>
                <a:schemeClr val="accent6"/>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411480" y="274320"/>
            <a:ext cx="8298180" cy="6172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700"/>
              <a:buFont typeface="Cambria"/>
              <a:buNone/>
            </a:pPr>
            <a:r>
              <a:rPr b="1" lang="en" sz="2700">
                <a:solidFill>
                  <a:schemeClr val="dk2"/>
                </a:solidFill>
              </a:rPr>
              <a:t>The data: 13 months of real wholesale orders</a:t>
            </a:r>
            <a:endParaRPr sz="2700"/>
          </a:p>
        </p:txBody>
      </p:sp>
      <p:sp>
        <p:nvSpPr>
          <p:cNvPr id="92" name="Google Shape;92;p19"/>
          <p:cNvSpPr/>
          <p:nvPr/>
        </p:nvSpPr>
        <p:spPr>
          <a:xfrm>
            <a:off x="411480" y="1097280"/>
            <a:ext cx="1954530" cy="994410"/>
          </a:xfrm>
          <a:prstGeom prst="roundRect">
            <a:avLst>
              <a:gd fmla="val 5517" name="adj"/>
            </a:avLst>
          </a:prstGeom>
          <a:solidFill>
            <a:schemeClr val="lt2"/>
          </a:solidFill>
          <a:ln cap="flat" cmpd="sng" w="12700">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3" name="Google Shape;93;p19"/>
          <p:cNvSpPr txBox="1"/>
          <p:nvPr/>
        </p:nvSpPr>
        <p:spPr>
          <a:xfrm>
            <a:off x="582930" y="1179576"/>
            <a:ext cx="164592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400"/>
              <a:buFont typeface="Calibri"/>
              <a:buNone/>
            </a:pPr>
            <a:r>
              <a:rPr b="1" i="0" lang="en" sz="2400" u="none" cap="none" strike="noStrike">
                <a:solidFill>
                  <a:schemeClr val="accent1"/>
                </a:solidFill>
                <a:latin typeface="Calibri"/>
                <a:ea typeface="Calibri"/>
                <a:cs typeface="Calibri"/>
                <a:sym typeface="Calibri"/>
              </a:rPr>
              <a:t>541,909</a:t>
            </a:r>
            <a:endParaRPr b="0" i="0" sz="2400" u="none" cap="none" strike="noStrike">
              <a:solidFill>
                <a:schemeClr val="dk1"/>
              </a:solidFill>
              <a:latin typeface="Calibri"/>
              <a:ea typeface="Calibri"/>
              <a:cs typeface="Calibri"/>
              <a:sym typeface="Calibri"/>
            </a:endParaRPr>
          </a:p>
        </p:txBody>
      </p:sp>
      <p:sp>
        <p:nvSpPr>
          <p:cNvPr id="94" name="Google Shape;94;p19"/>
          <p:cNvSpPr txBox="1"/>
          <p:nvPr/>
        </p:nvSpPr>
        <p:spPr>
          <a:xfrm>
            <a:off x="582930" y="1645920"/>
            <a:ext cx="1645920" cy="37719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order lines in the raw file</a:t>
            </a:r>
            <a:endParaRPr b="0" i="0" sz="1100" u="none" cap="none" strike="noStrike">
              <a:solidFill>
                <a:schemeClr val="dk1"/>
              </a:solidFill>
              <a:latin typeface="Calibri"/>
              <a:ea typeface="Calibri"/>
              <a:cs typeface="Calibri"/>
              <a:sym typeface="Calibri"/>
            </a:endParaRPr>
          </a:p>
        </p:txBody>
      </p:sp>
      <p:sp>
        <p:nvSpPr>
          <p:cNvPr id="95" name="Google Shape;95;p19"/>
          <p:cNvSpPr/>
          <p:nvPr/>
        </p:nvSpPr>
        <p:spPr>
          <a:xfrm>
            <a:off x="2523744" y="1097280"/>
            <a:ext cx="1954530" cy="994410"/>
          </a:xfrm>
          <a:prstGeom prst="roundRect">
            <a:avLst>
              <a:gd fmla="val 5517" name="adj"/>
            </a:avLst>
          </a:prstGeom>
          <a:solidFill>
            <a:schemeClr val="lt2"/>
          </a:solidFill>
          <a:ln cap="flat" cmpd="sng" w="12700">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6" name="Google Shape;96;p19"/>
          <p:cNvSpPr txBox="1"/>
          <p:nvPr/>
        </p:nvSpPr>
        <p:spPr>
          <a:xfrm>
            <a:off x="2695194" y="1179576"/>
            <a:ext cx="164592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400"/>
              <a:buFont typeface="Calibri"/>
              <a:buNone/>
            </a:pPr>
            <a:r>
              <a:rPr b="1" i="0" lang="en" sz="2400" u="none" cap="none" strike="noStrike">
                <a:solidFill>
                  <a:schemeClr val="accent1"/>
                </a:solidFill>
                <a:latin typeface="Calibri"/>
                <a:ea typeface="Calibri"/>
                <a:cs typeface="Calibri"/>
                <a:sym typeface="Calibri"/>
              </a:rPr>
              <a:t>13 months</a:t>
            </a:r>
            <a:endParaRPr b="0" i="0" sz="2400" u="none" cap="none" strike="noStrike">
              <a:solidFill>
                <a:schemeClr val="dk1"/>
              </a:solidFill>
              <a:latin typeface="Calibri"/>
              <a:ea typeface="Calibri"/>
              <a:cs typeface="Calibri"/>
              <a:sym typeface="Calibri"/>
            </a:endParaRPr>
          </a:p>
        </p:txBody>
      </p:sp>
      <p:sp>
        <p:nvSpPr>
          <p:cNvPr id="97" name="Google Shape;97;p19"/>
          <p:cNvSpPr txBox="1"/>
          <p:nvPr/>
        </p:nvSpPr>
        <p:spPr>
          <a:xfrm>
            <a:off x="2695194" y="1645920"/>
            <a:ext cx="1645920" cy="37719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1 Dec 2010 to 9 Dec 2011</a:t>
            </a:r>
            <a:endParaRPr b="0" i="0" sz="1100" u="none" cap="none" strike="noStrike">
              <a:solidFill>
                <a:schemeClr val="dk1"/>
              </a:solidFill>
              <a:latin typeface="Calibri"/>
              <a:ea typeface="Calibri"/>
              <a:cs typeface="Calibri"/>
              <a:sym typeface="Calibri"/>
            </a:endParaRPr>
          </a:p>
        </p:txBody>
      </p:sp>
      <p:sp>
        <p:nvSpPr>
          <p:cNvPr id="98" name="Google Shape;98;p19"/>
          <p:cNvSpPr/>
          <p:nvPr/>
        </p:nvSpPr>
        <p:spPr>
          <a:xfrm>
            <a:off x="4636008" y="1097280"/>
            <a:ext cx="1954530" cy="994410"/>
          </a:xfrm>
          <a:prstGeom prst="roundRect">
            <a:avLst>
              <a:gd fmla="val 5517" name="adj"/>
            </a:avLst>
          </a:prstGeom>
          <a:solidFill>
            <a:schemeClr val="lt2"/>
          </a:solidFill>
          <a:ln cap="flat" cmpd="sng" w="12700">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19"/>
          <p:cNvSpPr txBox="1"/>
          <p:nvPr/>
        </p:nvSpPr>
        <p:spPr>
          <a:xfrm>
            <a:off x="4807458" y="1179576"/>
            <a:ext cx="164592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400"/>
              <a:buFont typeface="Calibri"/>
              <a:buNone/>
            </a:pPr>
            <a:r>
              <a:rPr b="1" i="0" lang="en" sz="2400" u="none" cap="none" strike="noStrike">
                <a:solidFill>
                  <a:schemeClr val="accent1"/>
                </a:solidFill>
                <a:latin typeface="Calibri"/>
                <a:ea typeface="Calibri"/>
                <a:cs typeface="Calibri"/>
                <a:sym typeface="Calibri"/>
              </a:rPr>
              <a:t>4,333</a:t>
            </a:r>
            <a:endParaRPr b="0" i="0" sz="2400" u="none" cap="none" strike="noStrike">
              <a:solidFill>
                <a:schemeClr val="dk1"/>
              </a:solidFill>
              <a:latin typeface="Calibri"/>
              <a:ea typeface="Calibri"/>
              <a:cs typeface="Calibri"/>
              <a:sym typeface="Calibri"/>
            </a:endParaRPr>
          </a:p>
        </p:txBody>
      </p:sp>
      <p:sp>
        <p:nvSpPr>
          <p:cNvPr id="100" name="Google Shape;100;p19"/>
          <p:cNvSpPr txBox="1"/>
          <p:nvPr/>
        </p:nvSpPr>
        <p:spPr>
          <a:xfrm>
            <a:off x="4807458" y="1645920"/>
            <a:ext cx="1645920" cy="37719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identified customers in 38 countries</a:t>
            </a:r>
            <a:endParaRPr b="0" i="0" sz="1100" u="none" cap="none" strike="noStrike">
              <a:solidFill>
                <a:schemeClr val="dk1"/>
              </a:solidFill>
              <a:latin typeface="Calibri"/>
              <a:ea typeface="Calibri"/>
              <a:cs typeface="Calibri"/>
              <a:sym typeface="Calibri"/>
            </a:endParaRPr>
          </a:p>
        </p:txBody>
      </p:sp>
      <p:sp>
        <p:nvSpPr>
          <p:cNvPr id="101" name="Google Shape;101;p19"/>
          <p:cNvSpPr/>
          <p:nvPr/>
        </p:nvSpPr>
        <p:spPr>
          <a:xfrm>
            <a:off x="6748272" y="1097280"/>
            <a:ext cx="1954530" cy="994410"/>
          </a:xfrm>
          <a:prstGeom prst="roundRect">
            <a:avLst>
              <a:gd fmla="val 5517" name="adj"/>
            </a:avLst>
          </a:prstGeom>
          <a:solidFill>
            <a:schemeClr val="lt2"/>
          </a:solidFill>
          <a:ln cap="flat" cmpd="sng" w="12700">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 name="Google Shape;102;p19"/>
          <p:cNvSpPr txBox="1"/>
          <p:nvPr/>
        </p:nvSpPr>
        <p:spPr>
          <a:xfrm>
            <a:off x="6919722" y="1179576"/>
            <a:ext cx="1645920"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400"/>
              <a:buFont typeface="Calibri"/>
              <a:buNone/>
            </a:pPr>
            <a:r>
              <a:rPr b="1" i="0" lang="en" sz="2400" u="none" cap="none" strike="noStrike">
                <a:solidFill>
                  <a:schemeClr val="accent1"/>
                </a:solidFill>
                <a:latin typeface="Calibri"/>
                <a:ea typeface="Calibri"/>
                <a:cs typeface="Calibri"/>
                <a:sym typeface="Calibri"/>
              </a:rPr>
              <a:t>3,899</a:t>
            </a:r>
            <a:endParaRPr b="0" i="0" sz="2400" u="none" cap="none" strike="noStrike">
              <a:solidFill>
                <a:schemeClr val="dk1"/>
              </a:solidFill>
              <a:latin typeface="Calibri"/>
              <a:ea typeface="Calibri"/>
              <a:cs typeface="Calibri"/>
              <a:sym typeface="Calibri"/>
            </a:endParaRPr>
          </a:p>
        </p:txBody>
      </p:sp>
      <p:sp>
        <p:nvSpPr>
          <p:cNvPr id="103" name="Google Shape;103;p19"/>
          <p:cNvSpPr txBox="1"/>
          <p:nvPr/>
        </p:nvSpPr>
        <p:spPr>
          <a:xfrm>
            <a:off x="6919722" y="1645920"/>
            <a:ext cx="1645920" cy="37719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different products sold</a:t>
            </a:r>
            <a:endParaRPr b="0" i="0" sz="1100" u="none" cap="none" strike="noStrike">
              <a:solidFill>
                <a:schemeClr val="dk1"/>
              </a:solidFill>
              <a:latin typeface="Calibri"/>
              <a:ea typeface="Calibri"/>
              <a:cs typeface="Calibri"/>
              <a:sym typeface="Calibri"/>
            </a:endParaRPr>
          </a:p>
        </p:txBody>
      </p:sp>
      <p:sp>
        <p:nvSpPr>
          <p:cNvPr id="104" name="Google Shape;104;p19"/>
          <p:cNvSpPr txBox="1"/>
          <p:nvPr/>
        </p:nvSpPr>
        <p:spPr>
          <a:xfrm>
            <a:off x="411480" y="2331720"/>
            <a:ext cx="548640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HOW WE TURNED RAW ORDERS INTO ANSWERS</a:t>
            </a:r>
            <a:endParaRPr b="0" i="0" sz="800" u="none" cap="none" strike="noStrike">
              <a:solidFill>
                <a:schemeClr val="dk1"/>
              </a:solidFill>
              <a:latin typeface="Calibri"/>
              <a:ea typeface="Calibri"/>
              <a:cs typeface="Calibri"/>
              <a:sym typeface="Calibri"/>
            </a:endParaRPr>
          </a:p>
        </p:txBody>
      </p:sp>
      <p:cxnSp>
        <p:nvCxnSpPr>
          <p:cNvPr id="105" name="Google Shape;105;p19"/>
          <p:cNvCxnSpPr/>
          <p:nvPr/>
        </p:nvCxnSpPr>
        <p:spPr>
          <a:xfrm>
            <a:off x="685800" y="2880360"/>
            <a:ext cx="6720840" cy="0"/>
          </a:xfrm>
          <a:prstGeom prst="straightConnector1">
            <a:avLst/>
          </a:prstGeom>
          <a:noFill/>
          <a:ln cap="flat" cmpd="sng" w="19050">
            <a:solidFill>
              <a:schemeClr val="accent6"/>
            </a:solidFill>
            <a:prstDash val="solid"/>
            <a:round/>
            <a:headEnd len="sm" w="sm" type="none"/>
            <a:tailEnd len="sm" w="sm" type="none"/>
          </a:ln>
        </p:spPr>
      </p:cxnSp>
      <p:sp>
        <p:nvSpPr>
          <p:cNvPr id="106" name="Google Shape;106;p19"/>
          <p:cNvSpPr/>
          <p:nvPr/>
        </p:nvSpPr>
        <p:spPr>
          <a:xfrm>
            <a:off x="411480" y="2640330"/>
            <a:ext cx="480060" cy="4800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Collect icon" id="107" name="Google Shape;107;p19"/>
          <p:cNvPicPr preferRelativeResize="0"/>
          <p:nvPr/>
        </p:nvPicPr>
        <p:blipFill rotWithShape="1">
          <a:blip r:embed="rId3">
            <a:alphaModFix/>
          </a:blip>
          <a:srcRect b="0" l="0" r="0" t="0"/>
          <a:stretch/>
        </p:blipFill>
        <p:spPr>
          <a:xfrm>
            <a:off x="528066" y="2756916"/>
            <a:ext cx="246888" cy="246888"/>
          </a:xfrm>
          <a:prstGeom prst="rect">
            <a:avLst/>
          </a:prstGeom>
          <a:noFill/>
          <a:ln>
            <a:noFill/>
          </a:ln>
        </p:spPr>
      </p:pic>
      <p:sp>
        <p:nvSpPr>
          <p:cNvPr id="108" name="Google Shape;108;p19"/>
          <p:cNvSpPr txBox="1"/>
          <p:nvPr/>
        </p:nvSpPr>
        <p:spPr>
          <a:xfrm>
            <a:off x="411480" y="3257550"/>
            <a:ext cx="15773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1. Collect</a:t>
            </a:r>
            <a:endParaRPr b="0" i="0" sz="1400" u="none" cap="none" strike="noStrike">
              <a:solidFill>
                <a:schemeClr val="dk1"/>
              </a:solidFill>
              <a:latin typeface="Calibri"/>
              <a:ea typeface="Calibri"/>
              <a:cs typeface="Calibri"/>
              <a:sym typeface="Calibri"/>
            </a:endParaRPr>
          </a:p>
        </p:txBody>
      </p:sp>
      <p:sp>
        <p:nvSpPr>
          <p:cNvPr id="109" name="Google Shape;109;p19"/>
          <p:cNvSpPr txBox="1"/>
          <p:nvPr/>
        </p:nvSpPr>
        <p:spPr>
          <a:xfrm>
            <a:off x="411480" y="3566160"/>
            <a:ext cx="1508760" cy="8915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Public UCI Online Retail dataset, open licence (CC BY 4.0).</a:t>
            </a:r>
            <a:endParaRPr b="0" i="0" sz="1100" u="none" cap="none" strike="noStrike">
              <a:solidFill>
                <a:schemeClr val="dk1"/>
              </a:solidFill>
              <a:latin typeface="Calibri"/>
              <a:ea typeface="Calibri"/>
              <a:cs typeface="Calibri"/>
              <a:sym typeface="Calibri"/>
            </a:endParaRPr>
          </a:p>
        </p:txBody>
      </p:sp>
      <p:sp>
        <p:nvSpPr>
          <p:cNvPr id="110" name="Google Shape;110;p19"/>
          <p:cNvSpPr/>
          <p:nvPr/>
        </p:nvSpPr>
        <p:spPr>
          <a:xfrm>
            <a:off x="2091690" y="2640330"/>
            <a:ext cx="480060" cy="4800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Clean icon" id="111" name="Google Shape;111;p19"/>
          <p:cNvPicPr preferRelativeResize="0"/>
          <p:nvPr/>
        </p:nvPicPr>
        <p:blipFill rotWithShape="1">
          <a:blip r:embed="rId4">
            <a:alphaModFix/>
          </a:blip>
          <a:srcRect b="0" l="0" r="0" t="0"/>
          <a:stretch/>
        </p:blipFill>
        <p:spPr>
          <a:xfrm>
            <a:off x="2208276" y="2756916"/>
            <a:ext cx="246888" cy="246888"/>
          </a:xfrm>
          <a:prstGeom prst="rect">
            <a:avLst/>
          </a:prstGeom>
          <a:noFill/>
          <a:ln>
            <a:noFill/>
          </a:ln>
        </p:spPr>
      </p:pic>
      <p:sp>
        <p:nvSpPr>
          <p:cNvPr id="112" name="Google Shape;112;p19"/>
          <p:cNvSpPr txBox="1"/>
          <p:nvPr/>
        </p:nvSpPr>
        <p:spPr>
          <a:xfrm>
            <a:off x="2091690" y="3257550"/>
            <a:ext cx="15773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2. Clean</a:t>
            </a:r>
            <a:endParaRPr b="0" i="0" sz="1400" u="none" cap="none" strike="noStrike">
              <a:solidFill>
                <a:schemeClr val="dk1"/>
              </a:solidFill>
              <a:latin typeface="Calibri"/>
              <a:ea typeface="Calibri"/>
              <a:cs typeface="Calibri"/>
              <a:sym typeface="Calibri"/>
            </a:endParaRPr>
          </a:p>
        </p:txBody>
      </p:sp>
      <p:sp>
        <p:nvSpPr>
          <p:cNvPr id="113" name="Google Shape;113;p19"/>
          <p:cNvSpPr txBox="1"/>
          <p:nvPr/>
        </p:nvSpPr>
        <p:spPr>
          <a:xfrm>
            <a:off x="2091690" y="3566160"/>
            <a:ext cx="1508760" cy="8915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Removed duplicates, cancellations and non-product codes: 541,909 lines became 522,502.</a:t>
            </a:r>
            <a:endParaRPr b="0" i="0" sz="1100" u="none" cap="none" strike="noStrike">
              <a:solidFill>
                <a:schemeClr val="dk1"/>
              </a:solidFill>
              <a:latin typeface="Calibri"/>
              <a:ea typeface="Calibri"/>
              <a:cs typeface="Calibri"/>
              <a:sym typeface="Calibri"/>
            </a:endParaRPr>
          </a:p>
        </p:txBody>
      </p:sp>
      <p:sp>
        <p:nvSpPr>
          <p:cNvPr id="114" name="Google Shape;114;p19"/>
          <p:cNvSpPr/>
          <p:nvPr/>
        </p:nvSpPr>
        <p:spPr>
          <a:xfrm>
            <a:off x="3771900" y="2640330"/>
            <a:ext cx="480060" cy="4800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Enrich icon" id="115" name="Google Shape;115;p19"/>
          <p:cNvPicPr preferRelativeResize="0"/>
          <p:nvPr/>
        </p:nvPicPr>
        <p:blipFill rotWithShape="1">
          <a:blip r:embed="rId5">
            <a:alphaModFix/>
          </a:blip>
          <a:srcRect b="0" l="0" r="0" t="0"/>
          <a:stretch/>
        </p:blipFill>
        <p:spPr>
          <a:xfrm>
            <a:off x="3888486" y="2756916"/>
            <a:ext cx="246888" cy="246888"/>
          </a:xfrm>
          <a:prstGeom prst="rect">
            <a:avLst/>
          </a:prstGeom>
          <a:noFill/>
          <a:ln>
            <a:noFill/>
          </a:ln>
        </p:spPr>
      </p:pic>
      <p:sp>
        <p:nvSpPr>
          <p:cNvPr id="116" name="Google Shape;116;p19"/>
          <p:cNvSpPr txBox="1"/>
          <p:nvPr/>
        </p:nvSpPr>
        <p:spPr>
          <a:xfrm>
            <a:off x="3771900" y="3257550"/>
            <a:ext cx="15773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3. Enrich</a:t>
            </a:r>
            <a:endParaRPr b="0" i="0" sz="1400" u="none" cap="none" strike="noStrike">
              <a:solidFill>
                <a:schemeClr val="dk1"/>
              </a:solidFill>
              <a:latin typeface="Calibri"/>
              <a:ea typeface="Calibri"/>
              <a:cs typeface="Calibri"/>
              <a:sym typeface="Calibri"/>
            </a:endParaRPr>
          </a:p>
        </p:txBody>
      </p:sp>
      <p:sp>
        <p:nvSpPr>
          <p:cNvPr id="117" name="Google Shape;117;p19"/>
          <p:cNvSpPr txBox="1"/>
          <p:nvPr/>
        </p:nvSpPr>
        <p:spPr>
          <a:xfrm>
            <a:off x="3771900" y="3566160"/>
            <a:ext cx="1508760" cy="8915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Added revenue, month, weekday, hour, UK or export, and customer groups.</a:t>
            </a:r>
            <a:endParaRPr b="0" i="0" sz="1100" u="none" cap="none" strike="noStrike">
              <a:solidFill>
                <a:schemeClr val="dk1"/>
              </a:solidFill>
              <a:latin typeface="Calibri"/>
              <a:ea typeface="Calibri"/>
              <a:cs typeface="Calibri"/>
              <a:sym typeface="Calibri"/>
            </a:endParaRPr>
          </a:p>
        </p:txBody>
      </p:sp>
      <p:sp>
        <p:nvSpPr>
          <p:cNvPr id="118" name="Google Shape;118;p19"/>
          <p:cNvSpPr/>
          <p:nvPr/>
        </p:nvSpPr>
        <p:spPr>
          <a:xfrm>
            <a:off x="5452110" y="2640330"/>
            <a:ext cx="480060" cy="4800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Analyse icon" id="119" name="Google Shape;119;p19"/>
          <p:cNvPicPr preferRelativeResize="0"/>
          <p:nvPr/>
        </p:nvPicPr>
        <p:blipFill rotWithShape="1">
          <a:blip r:embed="rId6">
            <a:alphaModFix/>
          </a:blip>
          <a:srcRect b="0" l="0" r="0" t="0"/>
          <a:stretch/>
        </p:blipFill>
        <p:spPr>
          <a:xfrm>
            <a:off x="5568696" y="2756916"/>
            <a:ext cx="246888" cy="246888"/>
          </a:xfrm>
          <a:prstGeom prst="rect">
            <a:avLst/>
          </a:prstGeom>
          <a:noFill/>
          <a:ln>
            <a:noFill/>
          </a:ln>
        </p:spPr>
      </p:pic>
      <p:sp>
        <p:nvSpPr>
          <p:cNvPr id="120" name="Google Shape;120;p19"/>
          <p:cNvSpPr txBox="1"/>
          <p:nvPr/>
        </p:nvSpPr>
        <p:spPr>
          <a:xfrm>
            <a:off x="5452110" y="3257550"/>
            <a:ext cx="15773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4. Analyse</a:t>
            </a:r>
            <a:endParaRPr b="0" i="0" sz="1400" u="none" cap="none" strike="noStrike">
              <a:solidFill>
                <a:schemeClr val="dk1"/>
              </a:solidFill>
              <a:latin typeface="Calibri"/>
              <a:ea typeface="Calibri"/>
              <a:cs typeface="Calibri"/>
              <a:sym typeface="Calibri"/>
            </a:endParaRPr>
          </a:p>
        </p:txBody>
      </p:sp>
      <p:sp>
        <p:nvSpPr>
          <p:cNvPr id="121" name="Google Shape;121;p19"/>
          <p:cNvSpPr txBox="1"/>
          <p:nvPr/>
        </p:nvSpPr>
        <p:spPr>
          <a:xfrm>
            <a:off x="5452110" y="3566160"/>
            <a:ext cx="1508760" cy="8915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Trends, concentration, customer groups, UK vs export, returns.</a:t>
            </a:r>
            <a:endParaRPr b="0" i="0" sz="1100" u="none" cap="none" strike="noStrike">
              <a:solidFill>
                <a:schemeClr val="dk1"/>
              </a:solidFill>
              <a:latin typeface="Calibri"/>
              <a:ea typeface="Calibri"/>
              <a:cs typeface="Calibri"/>
              <a:sym typeface="Calibri"/>
            </a:endParaRPr>
          </a:p>
        </p:txBody>
      </p:sp>
      <p:sp>
        <p:nvSpPr>
          <p:cNvPr id="122" name="Google Shape;122;p19"/>
          <p:cNvSpPr/>
          <p:nvPr/>
        </p:nvSpPr>
        <p:spPr>
          <a:xfrm>
            <a:off x="7132320" y="2640330"/>
            <a:ext cx="480060" cy="4800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Report icon" id="123" name="Google Shape;123;p19"/>
          <p:cNvPicPr preferRelativeResize="0"/>
          <p:nvPr/>
        </p:nvPicPr>
        <p:blipFill rotWithShape="1">
          <a:blip r:embed="rId7">
            <a:alphaModFix/>
          </a:blip>
          <a:srcRect b="0" l="0" r="0" t="0"/>
          <a:stretch/>
        </p:blipFill>
        <p:spPr>
          <a:xfrm>
            <a:off x="7248906" y="2756916"/>
            <a:ext cx="246888" cy="246888"/>
          </a:xfrm>
          <a:prstGeom prst="rect">
            <a:avLst/>
          </a:prstGeom>
          <a:noFill/>
          <a:ln>
            <a:noFill/>
          </a:ln>
        </p:spPr>
      </p:pic>
      <p:sp>
        <p:nvSpPr>
          <p:cNvPr id="124" name="Google Shape;124;p19"/>
          <p:cNvSpPr txBox="1"/>
          <p:nvPr/>
        </p:nvSpPr>
        <p:spPr>
          <a:xfrm>
            <a:off x="7132320" y="3257550"/>
            <a:ext cx="15773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5. Report</a:t>
            </a:r>
            <a:endParaRPr b="0" i="0" sz="1400" u="none" cap="none" strike="noStrike">
              <a:solidFill>
                <a:schemeClr val="dk1"/>
              </a:solidFill>
              <a:latin typeface="Calibri"/>
              <a:ea typeface="Calibri"/>
              <a:cs typeface="Calibri"/>
              <a:sym typeface="Calibri"/>
            </a:endParaRPr>
          </a:p>
        </p:txBody>
      </p:sp>
      <p:sp>
        <p:nvSpPr>
          <p:cNvPr id="125" name="Google Shape;125;p19"/>
          <p:cNvSpPr txBox="1"/>
          <p:nvPr/>
        </p:nvSpPr>
        <p:spPr>
          <a:xfrm>
            <a:off x="7132320" y="3566160"/>
            <a:ext cx="1508760" cy="8915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Dashboard and this briefing for management.</a:t>
            </a:r>
            <a:endParaRPr b="0" i="0" sz="1100" u="none" cap="none" strike="noStrike">
              <a:solidFill>
                <a:schemeClr val="dk1"/>
              </a:solidFill>
              <a:latin typeface="Calibri"/>
              <a:ea typeface="Calibri"/>
              <a:cs typeface="Calibri"/>
              <a:sym typeface="Calibri"/>
            </a:endParaRPr>
          </a:p>
        </p:txBody>
      </p:sp>
      <p:sp>
        <p:nvSpPr>
          <p:cNvPr id="126" name="Google Shape;126;p19"/>
          <p:cNvSpPr txBox="1"/>
          <p:nvPr/>
        </p:nvSpPr>
        <p:spPr>
          <a:xfrm>
            <a:off x="411480" y="4526280"/>
            <a:ext cx="822960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0" i="0" lang="en" sz="800" u="none" cap="none" strike="noStrike">
                <a:solidFill>
                  <a:schemeClr val="accent4"/>
                </a:solidFill>
                <a:latin typeface="Calibri"/>
                <a:ea typeface="Calibri"/>
                <a:cs typeface="Calibri"/>
                <a:sym typeface="Calibri"/>
              </a:rPr>
              <a:t>Source: Chen, Sain and Guo (2012), UCI Machine Learning Repository, Online Retail. archive.ics.uci.edu/dataset/352/online-retail</a:t>
            </a:r>
            <a:endParaRPr b="0" i="0" sz="800" u="none" cap="none" strike="noStrike">
              <a:solidFill>
                <a:schemeClr val="dk1"/>
              </a:solidFill>
              <a:latin typeface="Calibri"/>
              <a:ea typeface="Calibri"/>
              <a:cs typeface="Calibri"/>
              <a:sym typeface="Calibri"/>
            </a:endParaRPr>
          </a:p>
        </p:txBody>
      </p:sp>
      <p:sp>
        <p:nvSpPr>
          <p:cNvPr id="127" name="Google Shape;127;p19"/>
          <p:cNvSpPr txBox="1"/>
          <p:nvPr>
            <p:ph idx="4294967295" type="sldNum"/>
          </p:nvPr>
        </p:nvSpPr>
        <p:spPr>
          <a:xfrm>
            <a:off x="8298180" y="4800600"/>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800" u="none" cap="none" strike="noStrike">
                <a:solidFill>
                  <a:schemeClr val="accent4"/>
                </a:solidFill>
                <a:latin typeface="Calibri"/>
                <a:ea typeface="Calibri"/>
                <a:cs typeface="Calibri"/>
                <a:sym typeface="Calibri"/>
              </a:rPr>
              <a:t>‹#›</a:t>
            </a:fld>
            <a:endParaRPr b="0" i="0" sz="800" u="none" cap="none" strike="noStrike">
              <a:solidFill>
                <a:schemeClr val="accent4"/>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411480" y="274320"/>
            <a:ext cx="8298180" cy="6172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700"/>
              <a:buFont typeface="Cambria"/>
              <a:buNone/>
            </a:pPr>
            <a:r>
              <a:rPr b="1" lang="en" sz="2700">
                <a:solidFill>
                  <a:schemeClr val="dk2"/>
                </a:solidFill>
              </a:rPr>
              <a:t>Five th</a:t>
            </a:r>
            <a:r>
              <a:rPr lang="en"/>
              <a:t>i</a:t>
            </a:r>
            <a:r>
              <a:rPr b="1" lang="en" sz="2700">
                <a:solidFill>
                  <a:schemeClr val="dk2"/>
                </a:solidFill>
              </a:rPr>
              <a:t>ngs management should know</a:t>
            </a:r>
            <a:endParaRPr sz="2700"/>
          </a:p>
        </p:txBody>
      </p:sp>
      <p:sp>
        <p:nvSpPr>
          <p:cNvPr id="134" name="Google Shape;134;p20"/>
          <p:cNvSpPr txBox="1"/>
          <p:nvPr/>
        </p:nvSpPr>
        <p:spPr>
          <a:xfrm>
            <a:off x="411480" y="1062990"/>
            <a:ext cx="123444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300"/>
              <a:buFont typeface="Calibri"/>
              <a:buNone/>
            </a:pPr>
            <a:r>
              <a:rPr b="1" i="0" lang="en" sz="2300" u="none" cap="none" strike="noStrike">
                <a:solidFill>
                  <a:schemeClr val="accent1"/>
                </a:solidFill>
                <a:latin typeface="Calibri"/>
                <a:ea typeface="Calibri"/>
                <a:cs typeface="Calibri"/>
                <a:sym typeface="Calibri"/>
              </a:rPr>
              <a:t>35.8%</a:t>
            </a:r>
            <a:endParaRPr b="0" i="0" sz="2300" u="none" cap="none" strike="noStrike">
              <a:solidFill>
                <a:schemeClr val="dk1"/>
              </a:solidFill>
              <a:latin typeface="Calibri"/>
              <a:ea typeface="Calibri"/>
              <a:cs typeface="Calibri"/>
              <a:sym typeface="Calibri"/>
            </a:endParaRPr>
          </a:p>
        </p:txBody>
      </p:sp>
      <p:sp>
        <p:nvSpPr>
          <p:cNvPr id="135" name="Google Shape;135;p20"/>
          <p:cNvSpPr txBox="1"/>
          <p:nvPr/>
        </p:nvSpPr>
        <p:spPr>
          <a:xfrm>
            <a:off x="1714500" y="1062990"/>
            <a:ext cx="356616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of revenue came in Sep to Nov. November alone was 2.2x an average Jan to Aug month.</a:t>
            </a:r>
            <a:endParaRPr b="0" i="0" sz="1100" u="none" cap="none" strike="noStrike">
              <a:solidFill>
                <a:schemeClr val="dk1"/>
              </a:solidFill>
              <a:latin typeface="Calibri"/>
              <a:ea typeface="Calibri"/>
              <a:cs typeface="Calibri"/>
              <a:sym typeface="Calibri"/>
            </a:endParaRPr>
          </a:p>
        </p:txBody>
      </p:sp>
      <p:cxnSp>
        <p:nvCxnSpPr>
          <p:cNvPr id="136" name="Google Shape;136;p20"/>
          <p:cNvCxnSpPr/>
          <p:nvPr/>
        </p:nvCxnSpPr>
        <p:spPr>
          <a:xfrm>
            <a:off x="411480" y="1728216"/>
            <a:ext cx="4869180" cy="0"/>
          </a:xfrm>
          <a:prstGeom prst="straightConnector1">
            <a:avLst/>
          </a:prstGeom>
          <a:noFill/>
          <a:ln cap="flat" cmpd="sng" w="9525">
            <a:solidFill>
              <a:schemeClr val="accent6"/>
            </a:solidFill>
            <a:prstDash val="solid"/>
            <a:round/>
            <a:headEnd len="sm" w="sm" type="none"/>
            <a:tailEnd len="sm" w="sm" type="none"/>
          </a:ln>
        </p:spPr>
      </p:cxnSp>
      <p:sp>
        <p:nvSpPr>
          <p:cNvPr id="137" name="Google Shape;137;p20"/>
          <p:cNvSpPr txBox="1"/>
          <p:nvPr/>
        </p:nvSpPr>
        <p:spPr>
          <a:xfrm>
            <a:off x="411480" y="1783080"/>
            <a:ext cx="123444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300"/>
              <a:buFont typeface="Calibri"/>
              <a:buNone/>
            </a:pPr>
            <a:r>
              <a:rPr b="1" i="0" lang="en" sz="2300" u="none" cap="none" strike="noStrike">
                <a:solidFill>
                  <a:schemeClr val="accent1"/>
                </a:solidFill>
                <a:latin typeface="Calibri"/>
                <a:ea typeface="Calibri"/>
                <a:cs typeface="Calibri"/>
                <a:sym typeface="Calibri"/>
              </a:rPr>
              <a:t>73.9%</a:t>
            </a:r>
            <a:endParaRPr b="0" i="0" sz="2300" u="none" cap="none" strike="noStrike">
              <a:solidFill>
                <a:schemeClr val="dk1"/>
              </a:solidFill>
              <a:latin typeface="Calibri"/>
              <a:ea typeface="Calibri"/>
              <a:cs typeface="Calibri"/>
              <a:sym typeface="Calibri"/>
            </a:endParaRPr>
          </a:p>
        </p:txBody>
      </p:sp>
      <p:sp>
        <p:nvSpPr>
          <p:cNvPr id="138" name="Google Shape;138;p20"/>
          <p:cNvSpPr txBox="1"/>
          <p:nvPr/>
        </p:nvSpPr>
        <p:spPr>
          <a:xfrm>
            <a:off x="1714500" y="1783080"/>
            <a:ext cx="356616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of customer revenue comes from the top 20% of customers; the top 1% alone is 30.5%.</a:t>
            </a:r>
            <a:endParaRPr b="0" i="0" sz="1100" u="none" cap="none" strike="noStrike">
              <a:solidFill>
                <a:schemeClr val="dk1"/>
              </a:solidFill>
              <a:latin typeface="Calibri"/>
              <a:ea typeface="Calibri"/>
              <a:cs typeface="Calibri"/>
              <a:sym typeface="Calibri"/>
            </a:endParaRPr>
          </a:p>
        </p:txBody>
      </p:sp>
      <p:cxnSp>
        <p:nvCxnSpPr>
          <p:cNvPr id="139" name="Google Shape;139;p20"/>
          <p:cNvCxnSpPr/>
          <p:nvPr/>
        </p:nvCxnSpPr>
        <p:spPr>
          <a:xfrm>
            <a:off x="411480" y="2448306"/>
            <a:ext cx="4869180" cy="0"/>
          </a:xfrm>
          <a:prstGeom prst="straightConnector1">
            <a:avLst/>
          </a:prstGeom>
          <a:noFill/>
          <a:ln cap="flat" cmpd="sng" w="9525">
            <a:solidFill>
              <a:schemeClr val="accent6"/>
            </a:solidFill>
            <a:prstDash val="solid"/>
            <a:round/>
            <a:headEnd len="sm" w="sm" type="none"/>
            <a:tailEnd len="sm" w="sm" type="none"/>
          </a:ln>
        </p:spPr>
      </p:cxnSp>
      <p:sp>
        <p:nvSpPr>
          <p:cNvPr id="140" name="Google Shape;140;p20"/>
          <p:cNvSpPr txBox="1"/>
          <p:nvPr/>
        </p:nvSpPr>
        <p:spPr>
          <a:xfrm>
            <a:off x="411480" y="2503170"/>
            <a:ext cx="123444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300"/>
              <a:buFont typeface="Calibri"/>
              <a:buNone/>
            </a:pPr>
            <a:r>
              <a:rPr b="1" i="0" lang="en" sz="2300" u="none" cap="none" strike="noStrike">
                <a:solidFill>
                  <a:schemeClr val="accent1"/>
                </a:solidFill>
                <a:latin typeface="Calibri"/>
                <a:ea typeface="Calibri"/>
                <a:cs typeface="Calibri"/>
                <a:sym typeface="Calibri"/>
              </a:rPr>
              <a:t>8x</a:t>
            </a:r>
            <a:endParaRPr b="0" i="0" sz="2300" u="none" cap="none" strike="noStrike">
              <a:solidFill>
                <a:schemeClr val="dk1"/>
              </a:solidFill>
              <a:latin typeface="Calibri"/>
              <a:ea typeface="Calibri"/>
              <a:cs typeface="Calibri"/>
              <a:sym typeface="Calibri"/>
            </a:endParaRPr>
          </a:p>
        </p:txBody>
      </p:sp>
      <p:sp>
        <p:nvSpPr>
          <p:cNvPr id="141" name="Google Shape;141;p20"/>
          <p:cNvSpPr txBox="1"/>
          <p:nvPr/>
        </p:nvSpPr>
        <p:spPr>
          <a:xfrm>
            <a:off x="1714500" y="2503170"/>
            <a:ext cx="356616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Repeat customers are worth about 8x one-time buyers (£2,808 vs £365 each).</a:t>
            </a:r>
            <a:endParaRPr b="0" i="0" sz="1100" u="none" cap="none" strike="noStrike">
              <a:solidFill>
                <a:schemeClr val="dk1"/>
              </a:solidFill>
              <a:latin typeface="Calibri"/>
              <a:ea typeface="Calibri"/>
              <a:cs typeface="Calibri"/>
              <a:sym typeface="Calibri"/>
            </a:endParaRPr>
          </a:p>
        </p:txBody>
      </p:sp>
      <p:cxnSp>
        <p:nvCxnSpPr>
          <p:cNvPr id="142" name="Google Shape;142;p20"/>
          <p:cNvCxnSpPr/>
          <p:nvPr/>
        </p:nvCxnSpPr>
        <p:spPr>
          <a:xfrm>
            <a:off x="411480" y="3168396"/>
            <a:ext cx="4869180" cy="0"/>
          </a:xfrm>
          <a:prstGeom prst="straightConnector1">
            <a:avLst/>
          </a:prstGeom>
          <a:noFill/>
          <a:ln cap="flat" cmpd="sng" w="9525">
            <a:solidFill>
              <a:schemeClr val="accent6"/>
            </a:solidFill>
            <a:prstDash val="solid"/>
            <a:round/>
            <a:headEnd len="sm" w="sm" type="none"/>
            <a:tailEnd len="sm" w="sm" type="none"/>
          </a:ln>
        </p:spPr>
      </p:cxnSp>
      <p:sp>
        <p:nvSpPr>
          <p:cNvPr id="143" name="Google Shape;143;p20"/>
          <p:cNvSpPr txBox="1"/>
          <p:nvPr/>
        </p:nvSpPr>
        <p:spPr>
          <a:xfrm>
            <a:off x="411480" y="3223260"/>
            <a:ext cx="123444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2300"/>
              <a:buFont typeface="Calibri"/>
              <a:buNone/>
            </a:pPr>
            <a:r>
              <a:rPr b="1" i="0" lang="en" sz="2300" u="none" cap="none" strike="noStrike">
                <a:solidFill>
                  <a:schemeClr val="accent3"/>
                </a:solidFill>
                <a:latin typeface="Calibri"/>
                <a:ea typeface="Calibri"/>
                <a:cs typeface="Calibri"/>
                <a:sym typeface="Calibri"/>
              </a:rPr>
              <a:t>1.0M</a:t>
            </a:r>
            <a:endParaRPr b="0" i="0" sz="2300" u="none" cap="none" strike="noStrike">
              <a:solidFill>
                <a:schemeClr val="dk1"/>
              </a:solidFill>
              <a:latin typeface="Calibri"/>
              <a:ea typeface="Calibri"/>
              <a:cs typeface="Calibri"/>
              <a:sym typeface="Calibri"/>
            </a:endParaRPr>
          </a:p>
        </p:txBody>
      </p:sp>
      <p:sp>
        <p:nvSpPr>
          <p:cNvPr id="144" name="Google Shape;144;p20"/>
          <p:cNvSpPr txBox="1"/>
          <p:nvPr/>
        </p:nvSpPr>
        <p:spPr>
          <a:xfrm>
            <a:off x="1714500" y="3223260"/>
            <a:ext cx="356616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was earned by 643 valuable customers who have not ordered for 118 days on average.</a:t>
            </a:r>
            <a:endParaRPr b="0" i="0" sz="1100" u="none" cap="none" strike="noStrike">
              <a:solidFill>
                <a:schemeClr val="dk1"/>
              </a:solidFill>
              <a:latin typeface="Calibri"/>
              <a:ea typeface="Calibri"/>
              <a:cs typeface="Calibri"/>
              <a:sym typeface="Calibri"/>
            </a:endParaRPr>
          </a:p>
        </p:txBody>
      </p:sp>
      <p:cxnSp>
        <p:nvCxnSpPr>
          <p:cNvPr id="145" name="Google Shape;145;p20"/>
          <p:cNvCxnSpPr/>
          <p:nvPr/>
        </p:nvCxnSpPr>
        <p:spPr>
          <a:xfrm>
            <a:off x="411480" y="3888486"/>
            <a:ext cx="4869180" cy="0"/>
          </a:xfrm>
          <a:prstGeom prst="straightConnector1">
            <a:avLst/>
          </a:prstGeom>
          <a:noFill/>
          <a:ln cap="flat" cmpd="sng" w="9525">
            <a:solidFill>
              <a:schemeClr val="accent6"/>
            </a:solidFill>
            <a:prstDash val="solid"/>
            <a:round/>
            <a:headEnd len="sm" w="sm" type="none"/>
            <a:tailEnd len="sm" w="sm" type="none"/>
          </a:ln>
        </p:spPr>
      </p:cxnSp>
      <p:sp>
        <p:nvSpPr>
          <p:cNvPr id="146" name="Google Shape;146;p20"/>
          <p:cNvSpPr txBox="1"/>
          <p:nvPr/>
        </p:nvSpPr>
        <p:spPr>
          <a:xfrm>
            <a:off x="411480" y="3943350"/>
            <a:ext cx="123444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300"/>
              <a:buFont typeface="Calibri"/>
              <a:buNone/>
            </a:pPr>
            <a:r>
              <a:rPr b="1" i="0" lang="en" sz="2300" u="none" cap="none" strike="noStrike">
                <a:solidFill>
                  <a:schemeClr val="accent1"/>
                </a:solidFill>
                <a:latin typeface="Calibri"/>
                <a:ea typeface="Calibri"/>
                <a:cs typeface="Calibri"/>
                <a:sym typeface="Calibri"/>
              </a:rPr>
              <a:t>75.5%</a:t>
            </a:r>
            <a:endParaRPr b="0" i="0" sz="2300" u="none" cap="none" strike="noStrike">
              <a:solidFill>
                <a:schemeClr val="dk1"/>
              </a:solidFill>
              <a:latin typeface="Calibri"/>
              <a:ea typeface="Calibri"/>
              <a:cs typeface="Calibri"/>
              <a:sym typeface="Calibri"/>
            </a:endParaRPr>
          </a:p>
        </p:txBody>
      </p:sp>
      <p:sp>
        <p:nvSpPr>
          <p:cNvPr id="147" name="Google Shape;147;p20"/>
          <p:cNvSpPr txBox="1"/>
          <p:nvPr/>
        </p:nvSpPr>
        <p:spPr>
          <a:xfrm>
            <a:off x="1714500" y="3943350"/>
            <a:ext cx="356616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of revenue is ordered between 10:00 and 15:59. No Saturday orders were recorded.</a:t>
            </a:r>
            <a:endParaRPr b="0" i="0" sz="1100" u="none" cap="none" strike="noStrike">
              <a:solidFill>
                <a:schemeClr val="dk1"/>
              </a:solidFill>
              <a:latin typeface="Calibri"/>
              <a:ea typeface="Calibri"/>
              <a:cs typeface="Calibri"/>
              <a:sym typeface="Calibri"/>
            </a:endParaRPr>
          </a:p>
        </p:txBody>
      </p:sp>
      <p:pic>
        <p:nvPicPr>
          <p:cNvPr id="148" name="Google Shape;148;p20"/>
          <p:cNvPicPr preferRelativeResize="0"/>
          <p:nvPr/>
        </p:nvPicPr>
        <p:blipFill rotWithShape="1">
          <a:blip r:embed="rId3">
            <a:alphaModFix/>
          </a:blip>
          <a:srcRect b="0" l="0" r="0" t="0"/>
          <a:stretch/>
        </p:blipFill>
        <p:spPr>
          <a:xfrm>
            <a:off x="5554980" y="1028700"/>
            <a:ext cx="3188970" cy="3429000"/>
          </a:xfrm>
          <a:prstGeom prst="rect">
            <a:avLst/>
          </a:prstGeom>
          <a:noFill/>
          <a:ln>
            <a:noFill/>
          </a:ln>
        </p:spPr>
      </p:pic>
      <p:sp>
        <p:nvSpPr>
          <p:cNvPr id="149" name="Google Shape;149;p20"/>
          <p:cNvSpPr txBox="1"/>
          <p:nvPr/>
        </p:nvSpPr>
        <p:spPr>
          <a:xfrm>
            <a:off x="5554980" y="4491990"/>
            <a:ext cx="318897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0" i="0" lang="en" sz="800" u="none" cap="none" strike="noStrike">
                <a:solidFill>
                  <a:schemeClr val="accent4"/>
                </a:solidFill>
                <a:latin typeface="Calibri"/>
                <a:ea typeface="Calibri"/>
                <a:cs typeface="Calibri"/>
                <a:sym typeface="Calibri"/>
              </a:rPr>
              <a:t>Amber = Sep to Nov peak.  *December 2011 is partial (data ends 9 Dec).</a:t>
            </a:r>
            <a:endParaRPr b="0" i="0" sz="800" u="none" cap="none" strike="noStrike">
              <a:solidFill>
                <a:schemeClr val="dk1"/>
              </a:solidFill>
              <a:latin typeface="Calibri"/>
              <a:ea typeface="Calibri"/>
              <a:cs typeface="Calibri"/>
              <a:sym typeface="Calibri"/>
            </a:endParaRPr>
          </a:p>
        </p:txBody>
      </p:sp>
      <p:sp>
        <p:nvSpPr>
          <p:cNvPr id="150" name="Google Shape;150;p20"/>
          <p:cNvSpPr txBox="1"/>
          <p:nvPr>
            <p:ph idx="4294967295" type="sldNum"/>
          </p:nvPr>
        </p:nvSpPr>
        <p:spPr>
          <a:xfrm>
            <a:off x="8298180" y="4800600"/>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800" u="none" cap="none" strike="noStrike">
                <a:solidFill>
                  <a:schemeClr val="accent4"/>
                </a:solidFill>
                <a:latin typeface="Calibri"/>
                <a:ea typeface="Calibri"/>
                <a:cs typeface="Calibri"/>
                <a:sym typeface="Calibri"/>
              </a:rPr>
              <a:t>‹#›</a:t>
            </a:fld>
            <a:endParaRPr b="0" i="0" sz="800" u="none" cap="none" strike="noStrike">
              <a:solidFill>
                <a:schemeClr val="accent4"/>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1"/>
          <p:cNvSpPr txBox="1"/>
          <p:nvPr>
            <p:ph type="title"/>
          </p:nvPr>
        </p:nvSpPr>
        <p:spPr>
          <a:xfrm>
            <a:off x="411480" y="274320"/>
            <a:ext cx="8298180" cy="6172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700"/>
              <a:buFont typeface="Cambria"/>
              <a:buNone/>
            </a:pPr>
            <a:r>
              <a:rPr b="1" lang="en" sz="2700">
                <a:solidFill>
                  <a:schemeClr val="dk2"/>
                </a:solidFill>
              </a:rPr>
              <a:t>30% of customers deliver 75% of revenue</a:t>
            </a:r>
            <a:endParaRPr sz="2700"/>
          </a:p>
        </p:txBody>
      </p:sp>
      <p:sp>
        <p:nvSpPr>
          <p:cNvPr id="157" name="Google Shape;157;p21"/>
          <p:cNvSpPr txBox="1"/>
          <p:nvPr/>
        </p:nvSpPr>
        <p:spPr>
          <a:xfrm>
            <a:off x="411480" y="89154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400"/>
              <a:buFont typeface="Calibri"/>
              <a:buNone/>
            </a:pPr>
            <a:r>
              <a:rPr b="1" i="0" lang="en" sz="1400" u="none" cap="none" strike="noStrike">
                <a:solidFill>
                  <a:schemeClr val="accent3"/>
                </a:solidFill>
                <a:latin typeface="Calibri"/>
                <a:ea typeface="Calibri"/>
                <a:cs typeface="Calibri"/>
                <a:sym typeface="Calibri"/>
              </a:rPr>
              <a:t>And 643 once-valuable customers have gone quiet</a:t>
            </a:r>
            <a:endParaRPr b="0" i="0" sz="1400" u="none" cap="none" strike="noStrike">
              <a:solidFill>
                <a:schemeClr val="dk1"/>
              </a:solidFill>
              <a:latin typeface="Calibri"/>
              <a:ea typeface="Calibri"/>
              <a:cs typeface="Calibri"/>
              <a:sym typeface="Calibri"/>
            </a:endParaRPr>
          </a:p>
        </p:txBody>
      </p:sp>
      <p:pic>
        <p:nvPicPr>
          <p:cNvPr id="158" name="Google Shape;158;p21"/>
          <p:cNvPicPr preferRelativeResize="0"/>
          <p:nvPr/>
        </p:nvPicPr>
        <p:blipFill rotWithShape="1">
          <a:blip r:embed="rId3">
            <a:alphaModFix/>
          </a:blip>
          <a:srcRect b="0" l="0" r="0" t="0"/>
          <a:stretch/>
        </p:blipFill>
        <p:spPr>
          <a:xfrm>
            <a:off x="411480" y="1303020"/>
            <a:ext cx="5143500" cy="3188970"/>
          </a:xfrm>
          <a:prstGeom prst="rect">
            <a:avLst/>
          </a:prstGeom>
          <a:noFill/>
          <a:ln>
            <a:noFill/>
          </a:ln>
        </p:spPr>
      </p:pic>
      <p:sp>
        <p:nvSpPr>
          <p:cNvPr id="159" name="Google Shape;159;p21"/>
          <p:cNvSpPr/>
          <p:nvPr/>
        </p:nvSpPr>
        <p:spPr>
          <a:xfrm>
            <a:off x="5829300" y="1303020"/>
            <a:ext cx="2900934" cy="96012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 name="Google Shape;160;p21"/>
          <p:cNvSpPr txBox="1"/>
          <p:nvPr/>
        </p:nvSpPr>
        <p:spPr>
          <a:xfrm>
            <a:off x="6000750" y="1385316"/>
            <a:ext cx="260604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1" i="0" lang="en" sz="1800" u="none" cap="none" strike="noStrike">
                <a:solidFill>
                  <a:schemeClr val="accent1"/>
                </a:solidFill>
                <a:latin typeface="Calibri"/>
                <a:ea typeface="Calibri"/>
                <a:cs typeface="Calibri"/>
                <a:sym typeface="Calibri"/>
              </a:rPr>
              <a:t>1,315 Champions</a:t>
            </a:r>
            <a:endParaRPr b="0" i="0" sz="1800" u="none" cap="none" strike="noStrike">
              <a:solidFill>
                <a:schemeClr val="dk1"/>
              </a:solidFill>
              <a:latin typeface="Calibri"/>
              <a:ea typeface="Calibri"/>
              <a:cs typeface="Calibri"/>
              <a:sym typeface="Calibri"/>
            </a:endParaRPr>
          </a:p>
        </p:txBody>
      </p:sp>
      <p:sp>
        <p:nvSpPr>
          <p:cNvPr id="161" name="Google Shape;161;p21"/>
          <p:cNvSpPr txBox="1"/>
          <p:nvPr/>
        </p:nvSpPr>
        <p:spPr>
          <a:xfrm>
            <a:off x="6000750" y="1769364"/>
            <a:ext cx="2606040" cy="44577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75% of revenue. They last ordered 17 days ago on average.</a:t>
            </a:r>
            <a:endParaRPr b="0" i="0" sz="1100" u="none" cap="none" strike="noStrike">
              <a:solidFill>
                <a:schemeClr val="dk1"/>
              </a:solidFill>
              <a:latin typeface="Calibri"/>
              <a:ea typeface="Calibri"/>
              <a:cs typeface="Calibri"/>
              <a:sym typeface="Calibri"/>
            </a:endParaRPr>
          </a:p>
        </p:txBody>
      </p:sp>
      <p:sp>
        <p:nvSpPr>
          <p:cNvPr id="162" name="Google Shape;162;p21"/>
          <p:cNvSpPr/>
          <p:nvPr/>
        </p:nvSpPr>
        <p:spPr>
          <a:xfrm>
            <a:off x="5829300" y="2400300"/>
            <a:ext cx="2900934" cy="960120"/>
          </a:xfrm>
          <a:prstGeom prst="roundRect">
            <a:avLst>
              <a:gd fmla="val 5714" name="adj"/>
            </a:avLst>
          </a:prstGeom>
          <a:solidFill>
            <a:schemeClr val="lt2"/>
          </a:solidFill>
          <a:ln cap="flat" cmpd="sng" w="12700">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 name="Google Shape;163;p21"/>
          <p:cNvSpPr txBox="1"/>
          <p:nvPr/>
        </p:nvSpPr>
        <p:spPr>
          <a:xfrm>
            <a:off x="6000750" y="2482596"/>
            <a:ext cx="260604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800"/>
              <a:buFont typeface="Calibri"/>
              <a:buNone/>
            </a:pPr>
            <a:r>
              <a:rPr b="1" i="0" lang="en" sz="1800" u="none" cap="none" strike="noStrike">
                <a:solidFill>
                  <a:schemeClr val="accent3"/>
                </a:solidFill>
                <a:latin typeface="Calibri"/>
                <a:ea typeface="Calibri"/>
                <a:cs typeface="Calibri"/>
                <a:sym typeface="Calibri"/>
              </a:rPr>
              <a:t>643 At risk</a:t>
            </a:r>
            <a:endParaRPr b="0" i="0" sz="1800" u="none" cap="none" strike="noStrike">
              <a:solidFill>
                <a:schemeClr val="dk1"/>
              </a:solidFill>
              <a:latin typeface="Calibri"/>
              <a:ea typeface="Calibri"/>
              <a:cs typeface="Calibri"/>
              <a:sym typeface="Calibri"/>
            </a:endParaRPr>
          </a:p>
        </p:txBody>
      </p:sp>
      <p:sp>
        <p:nvSpPr>
          <p:cNvPr id="164" name="Google Shape;164;p21"/>
          <p:cNvSpPr txBox="1"/>
          <p:nvPr/>
        </p:nvSpPr>
        <p:spPr>
          <a:xfrm>
            <a:off x="6000750" y="2866644"/>
            <a:ext cx="2606040" cy="44577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£1.0M earned (12% of revenue). Quiet for 118 days on average.</a:t>
            </a:r>
            <a:endParaRPr b="0" i="0" sz="1100" u="none" cap="none" strike="noStrike">
              <a:solidFill>
                <a:schemeClr val="dk1"/>
              </a:solidFill>
              <a:latin typeface="Calibri"/>
              <a:ea typeface="Calibri"/>
              <a:cs typeface="Calibri"/>
              <a:sym typeface="Calibri"/>
            </a:endParaRPr>
          </a:p>
        </p:txBody>
      </p:sp>
      <p:sp>
        <p:nvSpPr>
          <p:cNvPr id="165" name="Google Shape;165;p21"/>
          <p:cNvSpPr/>
          <p:nvPr/>
        </p:nvSpPr>
        <p:spPr>
          <a:xfrm>
            <a:off x="5829300" y="3497580"/>
            <a:ext cx="2900934" cy="994410"/>
          </a:xfrm>
          <a:prstGeom prst="roundRect">
            <a:avLst>
              <a:gd fmla="val 5517" name="adj"/>
            </a:avLst>
          </a:prstGeom>
          <a:solidFill>
            <a:schemeClr val="lt2"/>
          </a:solidFill>
          <a:ln cap="flat" cmpd="sng" w="12700">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6" name="Google Shape;166;p21"/>
          <p:cNvSpPr txBox="1"/>
          <p:nvPr/>
        </p:nvSpPr>
        <p:spPr>
          <a:xfrm>
            <a:off x="6000750" y="3579876"/>
            <a:ext cx="260604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1" i="0" lang="en" sz="1800" u="none" cap="none" strike="noStrike">
                <a:solidFill>
                  <a:schemeClr val="accent1"/>
                </a:solidFill>
                <a:latin typeface="Calibri"/>
                <a:ea typeface="Calibri"/>
                <a:cs typeface="Calibri"/>
                <a:sym typeface="Calibri"/>
              </a:rPr>
              <a:t>About £250k</a:t>
            </a:r>
            <a:endParaRPr b="0" i="0" sz="1800" u="none" cap="none" strike="noStrike">
              <a:solidFill>
                <a:schemeClr val="dk1"/>
              </a:solidFill>
              <a:latin typeface="Calibri"/>
              <a:ea typeface="Calibri"/>
              <a:cs typeface="Calibri"/>
              <a:sym typeface="Calibri"/>
            </a:endParaRPr>
          </a:p>
        </p:txBody>
      </p:sp>
      <p:sp>
        <p:nvSpPr>
          <p:cNvPr id="167" name="Google Shape;167;p21"/>
          <p:cNvSpPr txBox="1"/>
          <p:nvPr/>
        </p:nvSpPr>
        <p:spPr>
          <a:xfrm>
            <a:off x="6000750" y="3963924"/>
            <a:ext cx="2606040" cy="44577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Possible revenue if we win back 1 in 4 at-risk customers at past spending.</a:t>
            </a:r>
            <a:endParaRPr b="0" i="0" sz="1100" u="none" cap="none" strike="noStrike">
              <a:solidFill>
                <a:schemeClr val="dk1"/>
              </a:solidFill>
              <a:latin typeface="Calibri"/>
              <a:ea typeface="Calibri"/>
              <a:cs typeface="Calibri"/>
              <a:sym typeface="Calibri"/>
            </a:endParaRPr>
          </a:p>
        </p:txBody>
      </p:sp>
      <p:sp>
        <p:nvSpPr>
          <p:cNvPr id="168" name="Google Shape;168;p21"/>
          <p:cNvSpPr txBox="1"/>
          <p:nvPr/>
        </p:nvSpPr>
        <p:spPr>
          <a:xfrm>
            <a:off x="411480" y="4526280"/>
            <a:ext cx="822960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0" i="0" lang="en" sz="800" u="none" cap="none" strike="noStrike">
                <a:solidFill>
                  <a:schemeClr val="accent4"/>
                </a:solidFill>
                <a:latin typeface="Calibri"/>
                <a:ea typeface="Calibri"/>
                <a:cs typeface="Calibri"/>
                <a:sym typeface="Calibri"/>
              </a:rPr>
              <a:t>Identified customers only (4,333). Groups are based on how recently, how often and how much each customer buys.</a:t>
            </a:r>
            <a:endParaRPr b="0" i="0" sz="800" u="none" cap="none" strike="noStrike">
              <a:solidFill>
                <a:schemeClr val="dk1"/>
              </a:solidFill>
              <a:latin typeface="Calibri"/>
              <a:ea typeface="Calibri"/>
              <a:cs typeface="Calibri"/>
              <a:sym typeface="Calibri"/>
            </a:endParaRPr>
          </a:p>
        </p:txBody>
      </p:sp>
      <p:sp>
        <p:nvSpPr>
          <p:cNvPr id="169" name="Google Shape;169;p21"/>
          <p:cNvSpPr txBox="1"/>
          <p:nvPr>
            <p:ph idx="4294967295" type="sldNum"/>
          </p:nvPr>
        </p:nvSpPr>
        <p:spPr>
          <a:xfrm>
            <a:off x="8298180" y="4800600"/>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800" u="none" cap="none" strike="noStrike">
                <a:solidFill>
                  <a:schemeClr val="accent4"/>
                </a:solidFill>
                <a:latin typeface="Calibri"/>
                <a:ea typeface="Calibri"/>
                <a:cs typeface="Calibri"/>
                <a:sym typeface="Calibri"/>
              </a:rPr>
              <a:t>‹#›</a:t>
            </a:fld>
            <a:endParaRPr b="0" i="0" sz="800" u="none" cap="none" strike="noStrike">
              <a:solidFill>
                <a:schemeClr val="accent4"/>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2"/>
          <p:cNvSpPr txBox="1"/>
          <p:nvPr>
            <p:ph type="title"/>
          </p:nvPr>
        </p:nvSpPr>
        <p:spPr>
          <a:xfrm>
            <a:off x="411480" y="274320"/>
            <a:ext cx="8298180" cy="6172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700"/>
              <a:buFont typeface="Cambria"/>
              <a:buNone/>
            </a:pPr>
            <a:r>
              <a:rPr b="1" lang="en" sz="2700">
                <a:solidFill>
                  <a:schemeClr val="dk2"/>
                </a:solidFill>
              </a:rPr>
              <a:t>Three actions, in order of impact and ease</a:t>
            </a:r>
            <a:endParaRPr sz="2700"/>
          </a:p>
        </p:txBody>
      </p:sp>
      <p:sp>
        <p:nvSpPr>
          <p:cNvPr id="176" name="Google Shape;176;p22"/>
          <p:cNvSpPr/>
          <p:nvPr/>
        </p:nvSpPr>
        <p:spPr>
          <a:xfrm>
            <a:off x="411480" y="1097280"/>
            <a:ext cx="8318754" cy="1062990"/>
          </a:xfrm>
          <a:prstGeom prst="roundRect">
            <a:avLst>
              <a:gd fmla="val 5161" name="adj"/>
            </a:avLst>
          </a:prstGeom>
          <a:solidFill>
            <a:schemeClr val="lt2"/>
          </a:solidFill>
          <a:ln cap="flat" cmpd="sng" w="12700">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7" name="Google Shape;177;p22"/>
          <p:cNvSpPr/>
          <p:nvPr/>
        </p:nvSpPr>
        <p:spPr>
          <a:xfrm>
            <a:off x="582930" y="1385316"/>
            <a:ext cx="480060" cy="4800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8" name="Google Shape;178;p22"/>
          <p:cNvSpPr txBox="1"/>
          <p:nvPr/>
        </p:nvSpPr>
        <p:spPr>
          <a:xfrm>
            <a:off x="582930" y="1385316"/>
            <a:ext cx="480060" cy="4800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 sz="1800" u="none" cap="none" strike="noStrike">
                <a:solidFill>
                  <a:schemeClr val="lt1"/>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179" name="Google Shape;179;p22"/>
          <p:cNvSpPr txBox="1"/>
          <p:nvPr/>
        </p:nvSpPr>
        <p:spPr>
          <a:xfrm>
            <a:off x="1268730" y="1234440"/>
            <a:ext cx="22631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Win back valuable customers who went quiet</a:t>
            </a:r>
            <a:endParaRPr b="0" i="0" sz="1500" u="none" cap="none" strike="noStrike">
              <a:solidFill>
                <a:schemeClr val="dk1"/>
              </a:solidFill>
              <a:latin typeface="Calibri"/>
              <a:ea typeface="Calibri"/>
              <a:cs typeface="Calibri"/>
              <a:sym typeface="Calibri"/>
            </a:endParaRPr>
          </a:p>
        </p:txBody>
      </p:sp>
      <p:sp>
        <p:nvSpPr>
          <p:cNvPr id="180" name="Google Shape;180;p22"/>
          <p:cNvSpPr txBox="1"/>
          <p:nvPr/>
        </p:nvSpPr>
        <p:spPr>
          <a:xfrm>
            <a:off x="1268730" y="1817370"/>
            <a:ext cx="226314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900"/>
              <a:buFont typeface="Calibri"/>
              <a:buNone/>
            </a:pPr>
            <a:r>
              <a:rPr b="1" i="0" lang="en" sz="900" u="none" cap="none" strike="noStrike">
                <a:solidFill>
                  <a:schemeClr val="accent3"/>
                </a:solidFill>
                <a:latin typeface="Calibri"/>
                <a:ea typeface="Calibri"/>
                <a:cs typeface="Calibri"/>
                <a:sym typeface="Calibri"/>
              </a:rPr>
              <a:t>High impact  |  High feasibility</a:t>
            </a:r>
            <a:endParaRPr b="0" i="0" sz="900" u="none" cap="none" strike="noStrike">
              <a:solidFill>
                <a:schemeClr val="dk1"/>
              </a:solidFill>
              <a:latin typeface="Calibri"/>
              <a:ea typeface="Calibri"/>
              <a:cs typeface="Calibri"/>
              <a:sym typeface="Calibri"/>
            </a:endParaRPr>
          </a:p>
        </p:txBody>
      </p:sp>
      <p:sp>
        <p:nvSpPr>
          <p:cNvPr id="181" name="Google Shape;181;p22"/>
          <p:cNvSpPr txBox="1"/>
          <p:nvPr/>
        </p:nvSpPr>
        <p:spPr>
          <a:xfrm>
            <a:off x="3737610" y="1234440"/>
            <a:ext cx="288036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WHAT TO DO</a:t>
            </a:r>
            <a:endParaRPr b="0" i="0" sz="800" u="none" cap="none" strike="noStrike">
              <a:solidFill>
                <a:schemeClr val="dk1"/>
              </a:solidFill>
              <a:latin typeface="Calibri"/>
              <a:ea typeface="Calibri"/>
              <a:cs typeface="Calibri"/>
              <a:sym typeface="Calibri"/>
            </a:endParaRPr>
          </a:p>
        </p:txBody>
      </p:sp>
      <p:sp>
        <p:nvSpPr>
          <p:cNvPr id="182" name="Google Shape;182;p22"/>
          <p:cNvSpPr txBox="1"/>
          <p:nvPr/>
        </p:nvSpPr>
        <p:spPr>
          <a:xfrm>
            <a:off x="3737610" y="1426464"/>
            <a:ext cx="2948940" cy="6515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Call the top 50 of the 643 at-risk customers (ranked by past spend) and send a tailored offer to the rest.</a:t>
            </a:r>
            <a:endParaRPr b="0" i="0" sz="1100" u="none" cap="none" strike="noStrike">
              <a:solidFill>
                <a:schemeClr val="dk1"/>
              </a:solidFill>
              <a:latin typeface="Calibri"/>
              <a:ea typeface="Calibri"/>
              <a:cs typeface="Calibri"/>
              <a:sym typeface="Calibri"/>
            </a:endParaRPr>
          </a:p>
        </p:txBody>
      </p:sp>
      <p:sp>
        <p:nvSpPr>
          <p:cNvPr id="183" name="Google Shape;183;p22"/>
          <p:cNvSpPr txBox="1"/>
          <p:nvPr/>
        </p:nvSpPr>
        <p:spPr>
          <a:xfrm>
            <a:off x="6926580" y="1234440"/>
            <a:ext cx="17145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WHO ACTS</a:t>
            </a:r>
            <a:endParaRPr b="0" i="0" sz="800" u="none" cap="none" strike="noStrike">
              <a:solidFill>
                <a:schemeClr val="dk1"/>
              </a:solidFill>
              <a:latin typeface="Calibri"/>
              <a:ea typeface="Calibri"/>
              <a:cs typeface="Calibri"/>
              <a:sym typeface="Calibri"/>
            </a:endParaRPr>
          </a:p>
        </p:txBody>
      </p:sp>
      <p:sp>
        <p:nvSpPr>
          <p:cNvPr id="184" name="Google Shape;184;p22"/>
          <p:cNvSpPr txBox="1"/>
          <p:nvPr/>
        </p:nvSpPr>
        <p:spPr>
          <a:xfrm>
            <a:off x="6926580" y="1426464"/>
            <a:ext cx="1714500" cy="37719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Sales and account management</a:t>
            </a:r>
            <a:endParaRPr b="0" i="0" sz="1100" u="none" cap="none" strike="noStrike">
              <a:solidFill>
                <a:schemeClr val="dk1"/>
              </a:solidFill>
              <a:latin typeface="Calibri"/>
              <a:ea typeface="Calibri"/>
              <a:cs typeface="Calibri"/>
              <a:sym typeface="Calibri"/>
            </a:endParaRPr>
          </a:p>
        </p:txBody>
      </p:sp>
      <p:sp>
        <p:nvSpPr>
          <p:cNvPr id="185" name="Google Shape;185;p22"/>
          <p:cNvSpPr txBox="1"/>
          <p:nvPr/>
        </p:nvSpPr>
        <p:spPr>
          <a:xfrm>
            <a:off x="6926580" y="1817370"/>
            <a:ext cx="17145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900"/>
              <a:buFont typeface="Calibri"/>
              <a:buNone/>
            </a:pPr>
            <a:r>
              <a:rPr b="0" i="0" lang="en" sz="900" u="none" cap="none" strike="noStrike">
                <a:solidFill>
                  <a:schemeClr val="accent4"/>
                </a:solidFill>
                <a:latin typeface="Calibri"/>
                <a:ea typeface="Calibri"/>
                <a:cs typeface="Calibri"/>
                <a:sym typeface="Calibri"/>
              </a:rPr>
              <a:t>£1.0M earned; quiet for 118 days</a:t>
            </a:r>
            <a:endParaRPr b="0" i="0" sz="900" u="none" cap="none" strike="noStrike">
              <a:solidFill>
                <a:schemeClr val="dk1"/>
              </a:solidFill>
              <a:latin typeface="Calibri"/>
              <a:ea typeface="Calibri"/>
              <a:cs typeface="Calibri"/>
              <a:sym typeface="Calibri"/>
            </a:endParaRPr>
          </a:p>
        </p:txBody>
      </p:sp>
      <p:sp>
        <p:nvSpPr>
          <p:cNvPr id="186" name="Google Shape;186;p22"/>
          <p:cNvSpPr/>
          <p:nvPr/>
        </p:nvSpPr>
        <p:spPr>
          <a:xfrm>
            <a:off x="411480" y="2297430"/>
            <a:ext cx="8318754" cy="1062990"/>
          </a:xfrm>
          <a:prstGeom prst="roundRect">
            <a:avLst>
              <a:gd fmla="val 5161" name="adj"/>
            </a:avLst>
          </a:prstGeom>
          <a:solidFill>
            <a:schemeClr val="lt2"/>
          </a:solidFill>
          <a:ln cap="flat" cmpd="sng" w="12700">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 name="Google Shape;187;p22"/>
          <p:cNvSpPr/>
          <p:nvPr/>
        </p:nvSpPr>
        <p:spPr>
          <a:xfrm>
            <a:off x="582930" y="2585466"/>
            <a:ext cx="480060" cy="4800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 name="Google Shape;188;p22"/>
          <p:cNvSpPr txBox="1"/>
          <p:nvPr/>
        </p:nvSpPr>
        <p:spPr>
          <a:xfrm>
            <a:off x="582930" y="2585466"/>
            <a:ext cx="480060" cy="4800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 sz="1800" u="none" cap="none" strike="noStrike">
                <a:solidFill>
                  <a:schemeClr val="lt1"/>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189" name="Google Shape;189;p22"/>
          <p:cNvSpPr txBox="1"/>
          <p:nvPr/>
        </p:nvSpPr>
        <p:spPr>
          <a:xfrm>
            <a:off x="1268730" y="2434590"/>
            <a:ext cx="22631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Protect and grow key accounts</a:t>
            </a:r>
            <a:endParaRPr b="0" i="0" sz="1500" u="none" cap="none" strike="noStrike">
              <a:solidFill>
                <a:schemeClr val="dk1"/>
              </a:solidFill>
              <a:latin typeface="Calibri"/>
              <a:ea typeface="Calibri"/>
              <a:cs typeface="Calibri"/>
              <a:sym typeface="Calibri"/>
            </a:endParaRPr>
          </a:p>
        </p:txBody>
      </p:sp>
      <p:sp>
        <p:nvSpPr>
          <p:cNvPr id="190" name="Google Shape;190;p22"/>
          <p:cNvSpPr txBox="1"/>
          <p:nvPr/>
        </p:nvSpPr>
        <p:spPr>
          <a:xfrm>
            <a:off x="1268730" y="3017520"/>
            <a:ext cx="226314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900"/>
              <a:buFont typeface="Calibri"/>
              <a:buNone/>
            </a:pPr>
            <a:r>
              <a:rPr b="1" i="0" lang="en" sz="900" u="none" cap="none" strike="noStrike">
                <a:solidFill>
                  <a:schemeClr val="accent3"/>
                </a:solidFill>
                <a:latin typeface="Calibri"/>
                <a:ea typeface="Calibri"/>
                <a:cs typeface="Calibri"/>
                <a:sym typeface="Calibri"/>
              </a:rPr>
              <a:t>High impact  |  Medium feasibility</a:t>
            </a:r>
            <a:endParaRPr b="0" i="0" sz="900" u="none" cap="none" strike="noStrike">
              <a:solidFill>
                <a:schemeClr val="dk1"/>
              </a:solidFill>
              <a:latin typeface="Calibri"/>
              <a:ea typeface="Calibri"/>
              <a:cs typeface="Calibri"/>
              <a:sym typeface="Calibri"/>
            </a:endParaRPr>
          </a:p>
        </p:txBody>
      </p:sp>
      <p:sp>
        <p:nvSpPr>
          <p:cNvPr id="191" name="Google Shape;191;p22"/>
          <p:cNvSpPr txBox="1"/>
          <p:nvPr/>
        </p:nvSpPr>
        <p:spPr>
          <a:xfrm>
            <a:off x="3737610" y="2434590"/>
            <a:ext cx="288036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WHAT TO DO</a:t>
            </a:r>
            <a:endParaRPr b="0" i="0" sz="800" u="none" cap="none" strike="noStrike">
              <a:solidFill>
                <a:schemeClr val="dk1"/>
              </a:solidFill>
              <a:latin typeface="Calibri"/>
              <a:ea typeface="Calibri"/>
              <a:cs typeface="Calibri"/>
              <a:sym typeface="Calibri"/>
            </a:endParaRPr>
          </a:p>
        </p:txBody>
      </p:sp>
      <p:sp>
        <p:nvSpPr>
          <p:cNvPr id="192" name="Google Shape;192;p22"/>
          <p:cNvSpPr txBox="1"/>
          <p:nvPr/>
        </p:nvSpPr>
        <p:spPr>
          <a:xfrm>
            <a:off x="3737610" y="2626614"/>
            <a:ext cx="2948940" cy="6515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Give a named owner to the top 1% of customers and the top 5 export accounts, and review their ordering every month.</a:t>
            </a:r>
            <a:endParaRPr b="0" i="0" sz="1100" u="none" cap="none" strike="noStrike">
              <a:solidFill>
                <a:schemeClr val="dk1"/>
              </a:solidFill>
              <a:latin typeface="Calibri"/>
              <a:ea typeface="Calibri"/>
              <a:cs typeface="Calibri"/>
              <a:sym typeface="Calibri"/>
            </a:endParaRPr>
          </a:p>
        </p:txBody>
      </p:sp>
      <p:sp>
        <p:nvSpPr>
          <p:cNvPr id="193" name="Google Shape;193;p22"/>
          <p:cNvSpPr txBox="1"/>
          <p:nvPr/>
        </p:nvSpPr>
        <p:spPr>
          <a:xfrm>
            <a:off x="6926580" y="2434590"/>
            <a:ext cx="17145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WHO ACTS</a:t>
            </a:r>
            <a:endParaRPr b="0" i="0" sz="800" u="none" cap="none" strike="noStrike">
              <a:solidFill>
                <a:schemeClr val="dk1"/>
              </a:solidFill>
              <a:latin typeface="Calibri"/>
              <a:ea typeface="Calibri"/>
              <a:cs typeface="Calibri"/>
              <a:sym typeface="Calibri"/>
            </a:endParaRPr>
          </a:p>
        </p:txBody>
      </p:sp>
      <p:sp>
        <p:nvSpPr>
          <p:cNvPr id="194" name="Google Shape;194;p22"/>
          <p:cNvSpPr txBox="1"/>
          <p:nvPr/>
        </p:nvSpPr>
        <p:spPr>
          <a:xfrm>
            <a:off x="6926580" y="2626614"/>
            <a:ext cx="1714500" cy="37719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Sales leadership</a:t>
            </a:r>
            <a:endParaRPr b="0" i="0" sz="1100" u="none" cap="none" strike="noStrike">
              <a:solidFill>
                <a:schemeClr val="dk1"/>
              </a:solidFill>
              <a:latin typeface="Calibri"/>
              <a:ea typeface="Calibri"/>
              <a:cs typeface="Calibri"/>
              <a:sym typeface="Calibri"/>
            </a:endParaRPr>
          </a:p>
        </p:txBody>
      </p:sp>
      <p:sp>
        <p:nvSpPr>
          <p:cNvPr id="195" name="Google Shape;195;p22"/>
          <p:cNvSpPr txBox="1"/>
          <p:nvPr/>
        </p:nvSpPr>
        <p:spPr>
          <a:xfrm>
            <a:off x="6926580" y="3017520"/>
            <a:ext cx="17145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900"/>
              <a:buFont typeface="Calibri"/>
              <a:buNone/>
            </a:pPr>
            <a:r>
              <a:rPr b="0" i="0" lang="en" sz="900" u="none" cap="none" strike="noStrike">
                <a:solidFill>
                  <a:schemeClr val="accent4"/>
                </a:solidFill>
                <a:latin typeface="Calibri"/>
                <a:ea typeface="Calibri"/>
                <a:cs typeface="Calibri"/>
                <a:sym typeface="Calibri"/>
              </a:rPr>
              <a:t>Top 1% = 30.5% of revenue</a:t>
            </a:r>
            <a:endParaRPr b="0" i="0" sz="900" u="none" cap="none" strike="noStrike">
              <a:solidFill>
                <a:schemeClr val="dk1"/>
              </a:solidFill>
              <a:latin typeface="Calibri"/>
              <a:ea typeface="Calibri"/>
              <a:cs typeface="Calibri"/>
              <a:sym typeface="Calibri"/>
            </a:endParaRPr>
          </a:p>
        </p:txBody>
      </p:sp>
      <p:sp>
        <p:nvSpPr>
          <p:cNvPr id="196" name="Google Shape;196;p22"/>
          <p:cNvSpPr/>
          <p:nvPr/>
        </p:nvSpPr>
        <p:spPr>
          <a:xfrm>
            <a:off x="411480" y="3497580"/>
            <a:ext cx="8318754" cy="1062990"/>
          </a:xfrm>
          <a:prstGeom prst="roundRect">
            <a:avLst>
              <a:gd fmla="val 5161" name="adj"/>
            </a:avLst>
          </a:prstGeom>
          <a:solidFill>
            <a:schemeClr val="lt2"/>
          </a:solidFill>
          <a:ln cap="flat" cmpd="sng" w="12700">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 name="Google Shape;197;p22"/>
          <p:cNvSpPr/>
          <p:nvPr/>
        </p:nvSpPr>
        <p:spPr>
          <a:xfrm>
            <a:off x="582930" y="3785616"/>
            <a:ext cx="480060" cy="48006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 name="Google Shape;198;p22"/>
          <p:cNvSpPr txBox="1"/>
          <p:nvPr/>
        </p:nvSpPr>
        <p:spPr>
          <a:xfrm>
            <a:off x="582930" y="3785616"/>
            <a:ext cx="480060" cy="4800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 sz="1800" u="none" cap="none" strike="noStrike">
                <a:solidFill>
                  <a:schemeClr val="lt1"/>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199" name="Google Shape;199;p22"/>
          <p:cNvSpPr txBox="1"/>
          <p:nvPr/>
        </p:nvSpPr>
        <p:spPr>
          <a:xfrm>
            <a:off x="1268730" y="3634740"/>
            <a:ext cx="22631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 sz="1500" u="none" cap="none" strike="noStrike">
                <a:solidFill>
                  <a:schemeClr val="dk2"/>
                </a:solidFill>
                <a:latin typeface="Calibri"/>
                <a:ea typeface="Calibri"/>
                <a:cs typeface="Calibri"/>
                <a:sym typeface="Calibri"/>
              </a:rPr>
              <a:t>Plan around the autumn peak</a:t>
            </a:r>
            <a:endParaRPr b="0" i="0" sz="1500" u="none" cap="none" strike="noStrike">
              <a:solidFill>
                <a:schemeClr val="dk1"/>
              </a:solidFill>
              <a:latin typeface="Calibri"/>
              <a:ea typeface="Calibri"/>
              <a:cs typeface="Calibri"/>
              <a:sym typeface="Calibri"/>
            </a:endParaRPr>
          </a:p>
        </p:txBody>
      </p:sp>
      <p:sp>
        <p:nvSpPr>
          <p:cNvPr id="200" name="Google Shape;200;p22"/>
          <p:cNvSpPr txBox="1"/>
          <p:nvPr/>
        </p:nvSpPr>
        <p:spPr>
          <a:xfrm>
            <a:off x="1268730" y="4217670"/>
            <a:ext cx="226314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900"/>
              <a:buFont typeface="Calibri"/>
              <a:buNone/>
            </a:pPr>
            <a:r>
              <a:rPr b="1" i="0" lang="en" sz="900" u="none" cap="none" strike="noStrike">
                <a:solidFill>
                  <a:schemeClr val="accent3"/>
                </a:solidFill>
                <a:latin typeface="Calibri"/>
                <a:ea typeface="Calibri"/>
                <a:cs typeface="Calibri"/>
                <a:sym typeface="Calibri"/>
              </a:rPr>
              <a:t>Medium impact  |  High feasibility</a:t>
            </a:r>
            <a:endParaRPr b="0" i="0" sz="900" u="none" cap="none" strike="noStrike">
              <a:solidFill>
                <a:schemeClr val="dk1"/>
              </a:solidFill>
              <a:latin typeface="Calibri"/>
              <a:ea typeface="Calibri"/>
              <a:cs typeface="Calibri"/>
              <a:sym typeface="Calibri"/>
            </a:endParaRPr>
          </a:p>
        </p:txBody>
      </p:sp>
      <p:sp>
        <p:nvSpPr>
          <p:cNvPr id="201" name="Google Shape;201;p22"/>
          <p:cNvSpPr txBox="1"/>
          <p:nvPr/>
        </p:nvSpPr>
        <p:spPr>
          <a:xfrm>
            <a:off x="3737610" y="3634740"/>
            <a:ext cx="288036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WHAT TO DO</a:t>
            </a:r>
            <a:endParaRPr b="0" i="0" sz="800" u="none" cap="none" strike="noStrike">
              <a:solidFill>
                <a:schemeClr val="dk1"/>
              </a:solidFill>
              <a:latin typeface="Calibri"/>
              <a:ea typeface="Calibri"/>
              <a:cs typeface="Calibri"/>
              <a:sym typeface="Calibri"/>
            </a:endParaRPr>
          </a:p>
        </p:txBody>
      </p:sp>
      <p:sp>
        <p:nvSpPr>
          <p:cNvPr id="202" name="Google Shape;202;p22"/>
          <p:cNvSpPr txBox="1"/>
          <p:nvPr/>
        </p:nvSpPr>
        <p:spPr>
          <a:xfrm>
            <a:off x="3737610" y="3826764"/>
            <a:ext cx="2948940" cy="6515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Order stock by July, staff up for Sep to Nov, push early offers in August and offer a second-order incentive.</a:t>
            </a:r>
            <a:endParaRPr b="0" i="0" sz="1100" u="none" cap="none" strike="noStrike">
              <a:solidFill>
                <a:schemeClr val="dk1"/>
              </a:solidFill>
              <a:latin typeface="Calibri"/>
              <a:ea typeface="Calibri"/>
              <a:cs typeface="Calibri"/>
              <a:sym typeface="Calibri"/>
            </a:endParaRPr>
          </a:p>
        </p:txBody>
      </p:sp>
      <p:sp>
        <p:nvSpPr>
          <p:cNvPr id="203" name="Google Shape;203;p22"/>
          <p:cNvSpPr txBox="1"/>
          <p:nvPr/>
        </p:nvSpPr>
        <p:spPr>
          <a:xfrm>
            <a:off x="6926580" y="3634740"/>
            <a:ext cx="17145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WHO ACTS</a:t>
            </a:r>
            <a:endParaRPr b="0" i="0" sz="800" u="none" cap="none" strike="noStrike">
              <a:solidFill>
                <a:schemeClr val="dk1"/>
              </a:solidFill>
              <a:latin typeface="Calibri"/>
              <a:ea typeface="Calibri"/>
              <a:cs typeface="Calibri"/>
              <a:sym typeface="Calibri"/>
            </a:endParaRPr>
          </a:p>
        </p:txBody>
      </p:sp>
      <p:sp>
        <p:nvSpPr>
          <p:cNvPr id="204" name="Google Shape;204;p22"/>
          <p:cNvSpPr txBox="1"/>
          <p:nvPr/>
        </p:nvSpPr>
        <p:spPr>
          <a:xfrm>
            <a:off x="6926580" y="3826764"/>
            <a:ext cx="1714500" cy="37719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Operations and marketing</a:t>
            </a:r>
            <a:endParaRPr b="0" i="0" sz="1100" u="none" cap="none" strike="noStrike">
              <a:solidFill>
                <a:schemeClr val="dk1"/>
              </a:solidFill>
              <a:latin typeface="Calibri"/>
              <a:ea typeface="Calibri"/>
              <a:cs typeface="Calibri"/>
              <a:sym typeface="Calibri"/>
            </a:endParaRPr>
          </a:p>
        </p:txBody>
      </p:sp>
      <p:sp>
        <p:nvSpPr>
          <p:cNvPr id="205" name="Google Shape;205;p22"/>
          <p:cNvSpPr txBox="1"/>
          <p:nvPr/>
        </p:nvSpPr>
        <p:spPr>
          <a:xfrm>
            <a:off x="6926580" y="4217670"/>
            <a:ext cx="17145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900"/>
              <a:buFont typeface="Calibri"/>
              <a:buNone/>
            </a:pPr>
            <a:r>
              <a:rPr b="0" i="0" lang="en" sz="900" u="none" cap="none" strike="noStrike">
                <a:solidFill>
                  <a:schemeClr val="accent4"/>
                </a:solidFill>
                <a:latin typeface="Calibri"/>
                <a:ea typeface="Calibri"/>
                <a:cs typeface="Calibri"/>
                <a:sym typeface="Calibri"/>
              </a:rPr>
              <a:t>Sep to Nov = 35.8% of revenue</a:t>
            </a:r>
            <a:endParaRPr b="0" i="0" sz="900" u="none" cap="none" strike="noStrike">
              <a:solidFill>
                <a:schemeClr val="dk1"/>
              </a:solidFill>
              <a:latin typeface="Calibri"/>
              <a:ea typeface="Calibri"/>
              <a:cs typeface="Calibri"/>
              <a:sym typeface="Calibri"/>
            </a:endParaRPr>
          </a:p>
        </p:txBody>
      </p:sp>
      <p:sp>
        <p:nvSpPr>
          <p:cNvPr id="206" name="Google Shape;206;p22"/>
          <p:cNvSpPr txBox="1"/>
          <p:nvPr>
            <p:ph idx="4294967295" type="sldNum"/>
          </p:nvPr>
        </p:nvSpPr>
        <p:spPr>
          <a:xfrm>
            <a:off x="8298180" y="4800600"/>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800" u="none" cap="none" strike="noStrike">
                <a:solidFill>
                  <a:schemeClr val="accent4"/>
                </a:solidFill>
                <a:latin typeface="Calibri"/>
                <a:ea typeface="Calibri"/>
                <a:cs typeface="Calibri"/>
                <a:sym typeface="Calibri"/>
              </a:rPr>
              <a:t>‹#›</a:t>
            </a:fld>
            <a:endParaRPr b="0" i="0" sz="800" u="none" cap="none" strike="noStrike">
              <a:solidFill>
                <a:schemeClr val="accent4"/>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3"/>
          <p:cNvSpPr txBox="1"/>
          <p:nvPr>
            <p:ph type="title"/>
          </p:nvPr>
        </p:nvSpPr>
        <p:spPr>
          <a:xfrm>
            <a:off x="411480" y="274320"/>
            <a:ext cx="8298180" cy="6172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700"/>
              <a:buFont typeface="Cambria"/>
              <a:buNone/>
            </a:pPr>
            <a:r>
              <a:rPr b="1" lang="en" sz="2700">
                <a:solidFill>
                  <a:schemeClr val="dk2"/>
                </a:solidFill>
              </a:rPr>
              <a:t>What success looks like, and how we will measure it</a:t>
            </a:r>
            <a:endParaRPr sz="2700"/>
          </a:p>
        </p:txBody>
      </p:sp>
      <p:sp>
        <p:nvSpPr>
          <p:cNvPr id="213" name="Google Shape;213;p23"/>
          <p:cNvSpPr/>
          <p:nvPr/>
        </p:nvSpPr>
        <p:spPr>
          <a:xfrm>
            <a:off x="411480" y="1062990"/>
            <a:ext cx="2640330" cy="3531870"/>
          </a:xfrm>
          <a:prstGeom prst="roundRect">
            <a:avLst>
              <a:gd fmla="val 2078" name="adj"/>
            </a:avLst>
          </a:prstGeom>
          <a:solidFill>
            <a:schemeClr val="lt2"/>
          </a:solidFill>
          <a:ln cap="flat" cmpd="sng" w="12700">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23"/>
          <p:cNvSpPr txBox="1"/>
          <p:nvPr/>
        </p:nvSpPr>
        <p:spPr>
          <a:xfrm>
            <a:off x="617220" y="1200150"/>
            <a:ext cx="22631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1. Win-back</a:t>
            </a:r>
            <a:endParaRPr b="0" i="0" sz="1400" u="none" cap="none" strike="noStrike">
              <a:solidFill>
                <a:schemeClr val="dk1"/>
              </a:solidFill>
              <a:latin typeface="Calibri"/>
              <a:ea typeface="Calibri"/>
              <a:cs typeface="Calibri"/>
              <a:sym typeface="Calibri"/>
            </a:endParaRPr>
          </a:p>
        </p:txBody>
      </p:sp>
      <p:sp>
        <p:nvSpPr>
          <p:cNvPr id="215" name="Google Shape;215;p23"/>
          <p:cNvSpPr txBox="1"/>
          <p:nvPr/>
        </p:nvSpPr>
        <p:spPr>
          <a:xfrm>
            <a:off x="617220" y="1508760"/>
            <a:ext cx="226314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3000"/>
              <a:buFont typeface="Calibri"/>
              <a:buNone/>
            </a:pPr>
            <a:r>
              <a:rPr b="1" i="0" lang="en" sz="3000" u="none" cap="none" strike="noStrike">
                <a:solidFill>
                  <a:schemeClr val="accent1"/>
                </a:solidFill>
                <a:latin typeface="Calibri"/>
                <a:ea typeface="Calibri"/>
                <a:cs typeface="Calibri"/>
                <a:sym typeface="Calibri"/>
              </a:rPr>
              <a:t>~250k</a:t>
            </a:r>
            <a:endParaRPr b="0" i="0" sz="3000" u="none" cap="none" strike="noStrike">
              <a:solidFill>
                <a:schemeClr val="dk1"/>
              </a:solidFill>
              <a:latin typeface="Calibri"/>
              <a:ea typeface="Calibri"/>
              <a:cs typeface="Calibri"/>
              <a:sym typeface="Calibri"/>
            </a:endParaRPr>
          </a:p>
        </p:txBody>
      </p:sp>
      <p:sp>
        <p:nvSpPr>
          <p:cNvPr id="216" name="Google Shape;216;p23"/>
          <p:cNvSpPr txBox="1"/>
          <p:nvPr/>
        </p:nvSpPr>
        <p:spPr>
          <a:xfrm>
            <a:off x="617220" y="2057400"/>
            <a:ext cx="2228850"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1100"/>
              <a:buFont typeface="Calibri"/>
              <a:buNone/>
            </a:pPr>
            <a:r>
              <a:rPr b="0" i="0" lang="en" sz="1100" u="none" cap="none" strike="noStrike">
                <a:solidFill>
                  <a:schemeClr val="accent4"/>
                </a:solidFill>
                <a:latin typeface="Calibri"/>
                <a:ea typeface="Calibri"/>
                <a:cs typeface="Calibri"/>
                <a:sym typeface="Calibri"/>
              </a:rPr>
              <a:t>if 1 in 4 quiet customers return, at past spending</a:t>
            </a:r>
            <a:endParaRPr b="0" i="0" sz="1100" u="none" cap="none" strike="noStrike">
              <a:solidFill>
                <a:schemeClr val="dk1"/>
              </a:solidFill>
              <a:latin typeface="Calibri"/>
              <a:ea typeface="Calibri"/>
              <a:cs typeface="Calibri"/>
              <a:sym typeface="Calibri"/>
            </a:endParaRPr>
          </a:p>
        </p:txBody>
      </p:sp>
      <p:sp>
        <p:nvSpPr>
          <p:cNvPr id="217" name="Google Shape;217;p23"/>
          <p:cNvSpPr txBox="1"/>
          <p:nvPr/>
        </p:nvSpPr>
        <p:spPr>
          <a:xfrm>
            <a:off x="617220" y="2640330"/>
            <a:ext cx="226314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WHAT COULD IMPROVE</a:t>
            </a:r>
            <a:endParaRPr b="0" i="0" sz="800" u="none" cap="none" strike="noStrike">
              <a:solidFill>
                <a:schemeClr val="dk1"/>
              </a:solidFill>
              <a:latin typeface="Calibri"/>
              <a:ea typeface="Calibri"/>
              <a:cs typeface="Calibri"/>
              <a:sym typeface="Calibri"/>
            </a:endParaRPr>
          </a:p>
        </p:txBody>
      </p:sp>
      <p:sp>
        <p:nvSpPr>
          <p:cNvPr id="218" name="Google Shape;218;p23"/>
          <p:cNvSpPr txBox="1"/>
          <p:nvPr/>
        </p:nvSpPr>
        <p:spPr>
          <a:xfrm>
            <a:off x="617220" y="2832354"/>
            <a:ext cx="2228850" cy="6515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Recover part of the £1.0M these customers once generated.</a:t>
            </a:r>
            <a:endParaRPr b="0" i="0" sz="1100" u="none" cap="none" strike="noStrike">
              <a:solidFill>
                <a:schemeClr val="dk1"/>
              </a:solidFill>
              <a:latin typeface="Calibri"/>
              <a:ea typeface="Calibri"/>
              <a:cs typeface="Calibri"/>
              <a:sym typeface="Calibri"/>
            </a:endParaRPr>
          </a:p>
        </p:txBody>
      </p:sp>
      <p:sp>
        <p:nvSpPr>
          <p:cNvPr id="219" name="Google Shape;219;p23"/>
          <p:cNvSpPr txBox="1"/>
          <p:nvPr/>
        </p:nvSpPr>
        <p:spPr>
          <a:xfrm>
            <a:off x="617220" y="3566160"/>
            <a:ext cx="226314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HOW WE WILL MEASURE</a:t>
            </a:r>
            <a:endParaRPr b="0" i="0" sz="800" u="none" cap="none" strike="noStrike">
              <a:solidFill>
                <a:schemeClr val="dk1"/>
              </a:solidFill>
              <a:latin typeface="Calibri"/>
              <a:ea typeface="Calibri"/>
              <a:cs typeface="Calibri"/>
              <a:sym typeface="Calibri"/>
            </a:endParaRPr>
          </a:p>
        </p:txBody>
      </p:sp>
      <p:sp>
        <p:nvSpPr>
          <p:cNvPr id="220" name="Google Shape;220;p23"/>
          <p:cNvSpPr txBox="1"/>
          <p:nvPr/>
        </p:nvSpPr>
        <p:spPr>
          <a:xfrm>
            <a:off x="617220" y="3758184"/>
            <a:ext cx="2263140" cy="754380"/>
          </a:xfrm>
          <a:prstGeom prst="rect">
            <a:avLst/>
          </a:prstGeom>
          <a:noFill/>
          <a:ln>
            <a:noFill/>
          </a:ln>
        </p:spPr>
        <p:txBody>
          <a:bodyPr anchorCtr="0" anchor="t" bIns="0" lIns="0" spcFirstLastPara="1" rIns="0" wrap="square" tIns="0">
            <a:noAutofit/>
          </a:bodyPr>
          <a:lstStyle/>
          <a:p>
            <a:pPr indent="-260350" lvl="0" marL="254000" marR="0" rtl="0" algn="l">
              <a:spcBef>
                <a:spcPts val="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Reactivation rate within 90 days</a:t>
            </a:r>
            <a:endParaRPr b="0" i="0" sz="1100" u="none" cap="none" strike="noStrike">
              <a:solidFill>
                <a:schemeClr val="dk1"/>
              </a:solidFill>
              <a:latin typeface="Calibri"/>
              <a:ea typeface="Calibri"/>
              <a:cs typeface="Calibri"/>
              <a:sym typeface="Calibri"/>
            </a:endParaRPr>
          </a:p>
          <a:p>
            <a:pPr indent="-260350" lvl="0" marL="254000" marR="0" rtl="0" algn="l">
              <a:spcBef>
                <a:spcPts val="20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Revenue from this group vs last year</a:t>
            </a:r>
            <a:endParaRPr b="0" i="0" sz="1100" u="none" cap="none" strike="noStrike">
              <a:solidFill>
                <a:schemeClr val="dk1"/>
              </a:solidFill>
              <a:latin typeface="Calibri"/>
              <a:ea typeface="Calibri"/>
              <a:cs typeface="Calibri"/>
              <a:sym typeface="Calibri"/>
            </a:endParaRPr>
          </a:p>
        </p:txBody>
      </p:sp>
      <p:sp>
        <p:nvSpPr>
          <p:cNvPr id="221" name="Google Shape;221;p23"/>
          <p:cNvSpPr/>
          <p:nvPr/>
        </p:nvSpPr>
        <p:spPr>
          <a:xfrm>
            <a:off x="3250692" y="1062990"/>
            <a:ext cx="2640330" cy="3531870"/>
          </a:xfrm>
          <a:prstGeom prst="roundRect">
            <a:avLst>
              <a:gd fmla="val 2078" name="adj"/>
            </a:avLst>
          </a:prstGeom>
          <a:solidFill>
            <a:schemeClr val="lt2"/>
          </a:solidFill>
          <a:ln cap="flat" cmpd="sng" w="12700">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2" name="Google Shape;222;p23"/>
          <p:cNvSpPr txBox="1"/>
          <p:nvPr/>
        </p:nvSpPr>
        <p:spPr>
          <a:xfrm>
            <a:off x="3456432" y="1200150"/>
            <a:ext cx="22631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2. Key accounts</a:t>
            </a:r>
            <a:endParaRPr b="0" i="0" sz="1400" u="none" cap="none" strike="noStrike">
              <a:solidFill>
                <a:schemeClr val="dk1"/>
              </a:solidFill>
              <a:latin typeface="Calibri"/>
              <a:ea typeface="Calibri"/>
              <a:cs typeface="Calibri"/>
              <a:sym typeface="Calibri"/>
            </a:endParaRPr>
          </a:p>
        </p:txBody>
      </p:sp>
      <p:sp>
        <p:nvSpPr>
          <p:cNvPr id="223" name="Google Shape;223;p23"/>
          <p:cNvSpPr txBox="1"/>
          <p:nvPr/>
        </p:nvSpPr>
        <p:spPr>
          <a:xfrm>
            <a:off x="3456432" y="1508760"/>
            <a:ext cx="226314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3000"/>
              <a:buFont typeface="Calibri"/>
              <a:buNone/>
            </a:pPr>
            <a:r>
              <a:rPr b="1" i="0" lang="en" sz="3000" u="none" cap="none" strike="noStrike">
                <a:solidFill>
                  <a:schemeClr val="accent1"/>
                </a:solidFill>
                <a:latin typeface="Calibri"/>
                <a:ea typeface="Calibri"/>
                <a:cs typeface="Calibri"/>
                <a:sym typeface="Calibri"/>
              </a:rPr>
              <a:t>~30%</a:t>
            </a:r>
            <a:endParaRPr b="0" i="0" sz="3000" u="none" cap="none" strike="noStrike">
              <a:solidFill>
                <a:schemeClr val="dk1"/>
              </a:solidFill>
              <a:latin typeface="Calibri"/>
              <a:ea typeface="Calibri"/>
              <a:cs typeface="Calibri"/>
              <a:sym typeface="Calibri"/>
            </a:endParaRPr>
          </a:p>
        </p:txBody>
      </p:sp>
      <p:sp>
        <p:nvSpPr>
          <p:cNvPr id="224" name="Google Shape;224;p23"/>
          <p:cNvSpPr txBox="1"/>
          <p:nvPr/>
        </p:nvSpPr>
        <p:spPr>
          <a:xfrm>
            <a:off x="3456432" y="2057400"/>
            <a:ext cx="2228850"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1100"/>
              <a:buFont typeface="Calibri"/>
              <a:buNone/>
            </a:pPr>
            <a:r>
              <a:rPr b="0" i="0" lang="en" sz="1100" u="none" cap="none" strike="noStrike">
                <a:solidFill>
                  <a:schemeClr val="accent4"/>
                </a:solidFill>
                <a:latin typeface="Calibri"/>
                <a:ea typeface="Calibri"/>
                <a:cs typeface="Calibri"/>
                <a:sym typeface="Calibri"/>
              </a:rPr>
              <a:t>of revenue sits with the top 1% of customers</a:t>
            </a:r>
            <a:endParaRPr b="0" i="0" sz="1100" u="none" cap="none" strike="noStrike">
              <a:solidFill>
                <a:schemeClr val="dk1"/>
              </a:solidFill>
              <a:latin typeface="Calibri"/>
              <a:ea typeface="Calibri"/>
              <a:cs typeface="Calibri"/>
              <a:sym typeface="Calibri"/>
            </a:endParaRPr>
          </a:p>
        </p:txBody>
      </p:sp>
      <p:sp>
        <p:nvSpPr>
          <p:cNvPr id="225" name="Google Shape;225;p23"/>
          <p:cNvSpPr txBox="1"/>
          <p:nvPr/>
        </p:nvSpPr>
        <p:spPr>
          <a:xfrm>
            <a:off x="3456432" y="2640330"/>
            <a:ext cx="226314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WHAT COULD IMPROVE</a:t>
            </a:r>
            <a:endParaRPr b="0" i="0" sz="800" u="none" cap="none" strike="noStrike">
              <a:solidFill>
                <a:schemeClr val="dk1"/>
              </a:solidFill>
              <a:latin typeface="Calibri"/>
              <a:ea typeface="Calibri"/>
              <a:cs typeface="Calibri"/>
              <a:sym typeface="Calibri"/>
            </a:endParaRPr>
          </a:p>
        </p:txBody>
      </p:sp>
      <p:sp>
        <p:nvSpPr>
          <p:cNvPr id="226" name="Google Shape;226;p23"/>
          <p:cNvSpPr txBox="1"/>
          <p:nvPr/>
        </p:nvSpPr>
        <p:spPr>
          <a:xfrm>
            <a:off x="3456432" y="2832354"/>
            <a:ext cx="2228850" cy="6515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Less risk of losing the accounts that carry the business, and more chances to sell to them.</a:t>
            </a:r>
            <a:endParaRPr b="0" i="0" sz="1100" u="none" cap="none" strike="noStrike">
              <a:solidFill>
                <a:schemeClr val="dk1"/>
              </a:solidFill>
              <a:latin typeface="Calibri"/>
              <a:ea typeface="Calibri"/>
              <a:cs typeface="Calibri"/>
              <a:sym typeface="Calibri"/>
            </a:endParaRPr>
          </a:p>
        </p:txBody>
      </p:sp>
      <p:sp>
        <p:nvSpPr>
          <p:cNvPr id="227" name="Google Shape;227;p23"/>
          <p:cNvSpPr txBox="1"/>
          <p:nvPr/>
        </p:nvSpPr>
        <p:spPr>
          <a:xfrm>
            <a:off x="3456432" y="3566160"/>
            <a:ext cx="226314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HOW WE WILL MEASURE</a:t>
            </a:r>
            <a:endParaRPr b="0" i="0" sz="800" u="none" cap="none" strike="noStrike">
              <a:solidFill>
                <a:schemeClr val="dk1"/>
              </a:solidFill>
              <a:latin typeface="Calibri"/>
              <a:ea typeface="Calibri"/>
              <a:cs typeface="Calibri"/>
              <a:sym typeface="Calibri"/>
            </a:endParaRPr>
          </a:p>
        </p:txBody>
      </p:sp>
      <p:sp>
        <p:nvSpPr>
          <p:cNvPr id="228" name="Google Shape;228;p23"/>
          <p:cNvSpPr txBox="1"/>
          <p:nvPr/>
        </p:nvSpPr>
        <p:spPr>
          <a:xfrm>
            <a:off x="3456432" y="3758184"/>
            <a:ext cx="2263140" cy="754380"/>
          </a:xfrm>
          <a:prstGeom prst="rect">
            <a:avLst/>
          </a:prstGeom>
          <a:noFill/>
          <a:ln>
            <a:noFill/>
          </a:ln>
        </p:spPr>
        <p:txBody>
          <a:bodyPr anchorCtr="0" anchor="t" bIns="0" lIns="0" spcFirstLastPara="1" rIns="0" wrap="square" tIns="0">
            <a:noAutofit/>
          </a:bodyPr>
          <a:lstStyle/>
          <a:p>
            <a:pPr indent="-260350" lvl="0" marL="254000" marR="0" rtl="0" algn="l">
              <a:spcBef>
                <a:spcPts val="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Top-account share of revenue</a:t>
            </a:r>
            <a:endParaRPr b="0" i="0" sz="1100" u="none" cap="none" strike="noStrike">
              <a:solidFill>
                <a:schemeClr val="dk1"/>
              </a:solidFill>
              <a:latin typeface="Calibri"/>
              <a:ea typeface="Calibri"/>
              <a:cs typeface="Calibri"/>
              <a:sym typeface="Calibri"/>
            </a:endParaRPr>
          </a:p>
          <a:p>
            <a:pPr indent="-260350" lvl="0" marL="254000" marR="0" rtl="0" algn="l">
              <a:spcBef>
                <a:spcPts val="20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Days since last order</a:t>
            </a:r>
            <a:endParaRPr b="0" i="0" sz="1100" u="none" cap="none" strike="noStrike">
              <a:solidFill>
                <a:schemeClr val="dk1"/>
              </a:solidFill>
              <a:latin typeface="Calibri"/>
              <a:ea typeface="Calibri"/>
              <a:cs typeface="Calibri"/>
              <a:sym typeface="Calibri"/>
            </a:endParaRPr>
          </a:p>
          <a:p>
            <a:pPr indent="-260350" lvl="0" marL="254000" marR="0" rtl="0" algn="l">
              <a:spcBef>
                <a:spcPts val="20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Churn among the top 50</a:t>
            </a:r>
            <a:endParaRPr b="0" i="0" sz="1100" u="none" cap="none" strike="noStrike">
              <a:solidFill>
                <a:schemeClr val="dk1"/>
              </a:solidFill>
              <a:latin typeface="Calibri"/>
              <a:ea typeface="Calibri"/>
              <a:cs typeface="Calibri"/>
              <a:sym typeface="Calibri"/>
            </a:endParaRPr>
          </a:p>
        </p:txBody>
      </p:sp>
      <p:sp>
        <p:nvSpPr>
          <p:cNvPr id="229" name="Google Shape;229;p23"/>
          <p:cNvSpPr/>
          <p:nvPr/>
        </p:nvSpPr>
        <p:spPr>
          <a:xfrm>
            <a:off x="6089904" y="1062990"/>
            <a:ext cx="2640330" cy="3531870"/>
          </a:xfrm>
          <a:prstGeom prst="roundRect">
            <a:avLst>
              <a:gd fmla="val 2078" name="adj"/>
            </a:avLst>
          </a:prstGeom>
          <a:solidFill>
            <a:schemeClr val="lt2"/>
          </a:solidFill>
          <a:ln cap="flat" cmpd="sng" w="12700">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0" name="Google Shape;230;p23"/>
          <p:cNvSpPr txBox="1"/>
          <p:nvPr/>
        </p:nvSpPr>
        <p:spPr>
          <a:xfrm>
            <a:off x="6295644" y="1200150"/>
            <a:ext cx="22631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400"/>
              <a:buFont typeface="Calibri"/>
              <a:buNone/>
            </a:pPr>
            <a:r>
              <a:rPr b="1" i="0" lang="en" sz="1400" u="none" cap="none" strike="noStrike">
                <a:solidFill>
                  <a:schemeClr val="dk2"/>
                </a:solidFill>
                <a:latin typeface="Calibri"/>
                <a:ea typeface="Calibri"/>
                <a:cs typeface="Calibri"/>
                <a:sym typeface="Calibri"/>
              </a:rPr>
              <a:t>3. Autumn peak</a:t>
            </a:r>
            <a:endParaRPr b="0" i="0" sz="1400" u="none" cap="none" strike="noStrike">
              <a:solidFill>
                <a:schemeClr val="dk1"/>
              </a:solidFill>
              <a:latin typeface="Calibri"/>
              <a:ea typeface="Calibri"/>
              <a:cs typeface="Calibri"/>
              <a:sym typeface="Calibri"/>
            </a:endParaRPr>
          </a:p>
        </p:txBody>
      </p:sp>
      <p:sp>
        <p:nvSpPr>
          <p:cNvPr id="231" name="Google Shape;231;p23"/>
          <p:cNvSpPr txBox="1"/>
          <p:nvPr/>
        </p:nvSpPr>
        <p:spPr>
          <a:xfrm>
            <a:off x="6295644" y="1508760"/>
            <a:ext cx="226314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3000"/>
              <a:buFont typeface="Calibri"/>
              <a:buNone/>
            </a:pPr>
            <a:r>
              <a:rPr b="1" i="0" lang="en" sz="3000" u="none" cap="none" strike="noStrike">
                <a:solidFill>
                  <a:schemeClr val="accent1"/>
                </a:solidFill>
                <a:latin typeface="Calibri"/>
                <a:ea typeface="Calibri"/>
                <a:cs typeface="Calibri"/>
                <a:sym typeface="Calibri"/>
              </a:rPr>
              <a:t>35.8%</a:t>
            </a:r>
            <a:endParaRPr b="0" i="0" sz="3000" u="none" cap="none" strike="noStrike">
              <a:solidFill>
                <a:schemeClr val="dk1"/>
              </a:solidFill>
              <a:latin typeface="Calibri"/>
              <a:ea typeface="Calibri"/>
              <a:cs typeface="Calibri"/>
              <a:sym typeface="Calibri"/>
            </a:endParaRPr>
          </a:p>
        </p:txBody>
      </p:sp>
      <p:sp>
        <p:nvSpPr>
          <p:cNvPr id="232" name="Google Shape;232;p23"/>
          <p:cNvSpPr txBox="1"/>
          <p:nvPr/>
        </p:nvSpPr>
        <p:spPr>
          <a:xfrm>
            <a:off x="6295644" y="2057400"/>
            <a:ext cx="2228850"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1100"/>
              <a:buFont typeface="Calibri"/>
              <a:buNone/>
            </a:pPr>
            <a:r>
              <a:rPr b="0" i="0" lang="en" sz="1100" u="none" cap="none" strike="noStrike">
                <a:solidFill>
                  <a:schemeClr val="accent4"/>
                </a:solidFill>
                <a:latin typeface="Calibri"/>
                <a:ea typeface="Calibri"/>
                <a:cs typeface="Calibri"/>
                <a:sym typeface="Calibri"/>
              </a:rPr>
              <a:t>of revenue falls in Sep to Nov, our biggest window</a:t>
            </a:r>
            <a:endParaRPr b="0" i="0" sz="1100" u="none" cap="none" strike="noStrike">
              <a:solidFill>
                <a:schemeClr val="dk1"/>
              </a:solidFill>
              <a:latin typeface="Calibri"/>
              <a:ea typeface="Calibri"/>
              <a:cs typeface="Calibri"/>
              <a:sym typeface="Calibri"/>
            </a:endParaRPr>
          </a:p>
        </p:txBody>
      </p:sp>
      <p:sp>
        <p:nvSpPr>
          <p:cNvPr id="233" name="Google Shape;233;p23"/>
          <p:cNvSpPr txBox="1"/>
          <p:nvPr/>
        </p:nvSpPr>
        <p:spPr>
          <a:xfrm>
            <a:off x="6295644" y="2640330"/>
            <a:ext cx="226314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WHAT COULD IMPROVE</a:t>
            </a:r>
            <a:endParaRPr b="0" i="0" sz="800" u="none" cap="none" strike="noStrike">
              <a:solidFill>
                <a:schemeClr val="dk1"/>
              </a:solidFill>
              <a:latin typeface="Calibri"/>
              <a:ea typeface="Calibri"/>
              <a:cs typeface="Calibri"/>
              <a:sym typeface="Calibri"/>
            </a:endParaRPr>
          </a:p>
        </p:txBody>
      </p:sp>
      <p:sp>
        <p:nvSpPr>
          <p:cNvPr id="234" name="Google Shape;234;p23"/>
          <p:cNvSpPr txBox="1"/>
          <p:nvPr/>
        </p:nvSpPr>
        <p:spPr>
          <a:xfrm>
            <a:off x="6295644" y="2832354"/>
            <a:ext cx="2228850" cy="6515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Fewer stock-outs at the peak, and more one-time buyers becoming repeat buyers.</a:t>
            </a:r>
            <a:endParaRPr b="0" i="0" sz="1100" u="none" cap="none" strike="noStrike">
              <a:solidFill>
                <a:schemeClr val="dk1"/>
              </a:solidFill>
              <a:latin typeface="Calibri"/>
              <a:ea typeface="Calibri"/>
              <a:cs typeface="Calibri"/>
              <a:sym typeface="Calibri"/>
            </a:endParaRPr>
          </a:p>
        </p:txBody>
      </p:sp>
      <p:sp>
        <p:nvSpPr>
          <p:cNvPr id="235" name="Google Shape;235;p23"/>
          <p:cNvSpPr txBox="1"/>
          <p:nvPr/>
        </p:nvSpPr>
        <p:spPr>
          <a:xfrm>
            <a:off x="6295644" y="3566160"/>
            <a:ext cx="226314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HOW WE WILL MEASURE</a:t>
            </a:r>
            <a:endParaRPr b="0" i="0" sz="800" u="none" cap="none" strike="noStrike">
              <a:solidFill>
                <a:schemeClr val="dk1"/>
              </a:solidFill>
              <a:latin typeface="Calibri"/>
              <a:ea typeface="Calibri"/>
              <a:cs typeface="Calibri"/>
              <a:sym typeface="Calibri"/>
            </a:endParaRPr>
          </a:p>
        </p:txBody>
      </p:sp>
      <p:sp>
        <p:nvSpPr>
          <p:cNvPr id="236" name="Google Shape;236;p23"/>
          <p:cNvSpPr txBox="1"/>
          <p:nvPr/>
        </p:nvSpPr>
        <p:spPr>
          <a:xfrm>
            <a:off x="6295644" y="3758184"/>
            <a:ext cx="2263140" cy="754380"/>
          </a:xfrm>
          <a:prstGeom prst="rect">
            <a:avLst/>
          </a:prstGeom>
          <a:noFill/>
          <a:ln>
            <a:noFill/>
          </a:ln>
        </p:spPr>
        <p:txBody>
          <a:bodyPr anchorCtr="0" anchor="t" bIns="0" lIns="0" spcFirstLastPara="1" rIns="0" wrap="square" tIns="0">
            <a:noAutofit/>
          </a:bodyPr>
          <a:lstStyle/>
          <a:p>
            <a:pPr indent="-260350" lvl="0" marL="254000" marR="0" rtl="0" algn="l">
              <a:spcBef>
                <a:spcPts val="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Sep to Nov revenue growth</a:t>
            </a:r>
            <a:endParaRPr b="0" i="0" sz="1100" u="none" cap="none" strike="noStrike">
              <a:solidFill>
                <a:schemeClr val="dk1"/>
              </a:solidFill>
              <a:latin typeface="Calibri"/>
              <a:ea typeface="Calibri"/>
              <a:cs typeface="Calibri"/>
              <a:sym typeface="Calibri"/>
            </a:endParaRPr>
          </a:p>
          <a:p>
            <a:pPr indent="-260350" lvl="0" marL="254000" marR="0" rtl="0" algn="l">
              <a:spcBef>
                <a:spcPts val="20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Stock-out rate</a:t>
            </a:r>
            <a:endParaRPr b="0" i="0" sz="1100" u="none" cap="none" strike="noStrike">
              <a:solidFill>
                <a:schemeClr val="dk1"/>
              </a:solidFill>
              <a:latin typeface="Calibri"/>
              <a:ea typeface="Calibri"/>
              <a:cs typeface="Calibri"/>
              <a:sym typeface="Calibri"/>
            </a:endParaRPr>
          </a:p>
          <a:p>
            <a:pPr indent="-260350" lvl="0" marL="254000" marR="0" rtl="0" algn="l">
              <a:spcBef>
                <a:spcPts val="200"/>
              </a:spcBef>
              <a:spcAft>
                <a:spcPts val="0"/>
              </a:spcAft>
              <a:buClr>
                <a:schemeClr val="dk1"/>
              </a:buClr>
              <a:buSzPts val="1100"/>
              <a:buFont typeface="Calibri"/>
              <a:buChar char="•"/>
            </a:pPr>
            <a:r>
              <a:rPr b="0" i="0" lang="en" sz="1100" u="none" cap="none" strike="noStrike">
                <a:solidFill>
                  <a:schemeClr val="dk1"/>
                </a:solidFill>
                <a:latin typeface="Calibri"/>
                <a:ea typeface="Calibri"/>
                <a:cs typeface="Calibri"/>
                <a:sym typeface="Calibri"/>
              </a:rPr>
              <a:t>Share placing a second order within 60 days</a:t>
            </a:r>
            <a:endParaRPr b="0" i="0" sz="1100" u="none" cap="none" strike="noStrike">
              <a:solidFill>
                <a:schemeClr val="dk1"/>
              </a:solidFill>
              <a:latin typeface="Calibri"/>
              <a:ea typeface="Calibri"/>
              <a:cs typeface="Calibri"/>
              <a:sym typeface="Calibri"/>
            </a:endParaRPr>
          </a:p>
        </p:txBody>
      </p:sp>
      <p:sp>
        <p:nvSpPr>
          <p:cNvPr id="237" name="Google Shape;237;p23"/>
          <p:cNvSpPr txBox="1"/>
          <p:nvPr>
            <p:ph idx="4294967295" type="sldNum"/>
          </p:nvPr>
        </p:nvSpPr>
        <p:spPr>
          <a:xfrm>
            <a:off x="8298180" y="4800600"/>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800" u="none" cap="none" strike="noStrike">
                <a:solidFill>
                  <a:schemeClr val="accent4"/>
                </a:solidFill>
                <a:latin typeface="Calibri"/>
                <a:ea typeface="Calibri"/>
                <a:cs typeface="Calibri"/>
                <a:sym typeface="Calibri"/>
              </a:rPr>
              <a:t>‹#›</a:t>
            </a:fld>
            <a:endParaRPr b="0" i="0" sz="800" u="none" cap="none" strike="noStrike">
              <a:solidFill>
                <a:schemeClr val="accent4"/>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4"/>
          <p:cNvSpPr txBox="1"/>
          <p:nvPr>
            <p:ph type="title"/>
          </p:nvPr>
        </p:nvSpPr>
        <p:spPr>
          <a:xfrm>
            <a:off x="411480" y="274320"/>
            <a:ext cx="8298180" cy="6172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2700"/>
              <a:buFont typeface="Cambria"/>
              <a:buNone/>
            </a:pPr>
            <a:r>
              <a:rPr b="1" lang="en" sz="2700">
                <a:solidFill>
                  <a:schemeClr val="lt1"/>
                </a:solidFill>
              </a:rPr>
              <a:t>Handle with care: limits and next steps</a:t>
            </a:r>
            <a:endParaRPr sz="2700"/>
          </a:p>
        </p:txBody>
      </p:sp>
      <p:sp>
        <p:nvSpPr>
          <p:cNvPr id="244" name="Google Shape;244;p24"/>
          <p:cNvSpPr/>
          <p:nvPr/>
        </p:nvSpPr>
        <p:spPr>
          <a:xfrm>
            <a:off x="411480" y="1097280"/>
            <a:ext cx="4457700" cy="3360420"/>
          </a:xfrm>
          <a:prstGeom prst="roundRect">
            <a:avLst>
              <a:gd fmla="val 1633" name="adj"/>
            </a:avLst>
          </a:prstGeom>
          <a:solidFill>
            <a:schemeClr val="lt1">
              <a:alpha val="7843"/>
            </a:schemeClr>
          </a:solidFill>
          <a:ln cap="flat" cmpd="sng" w="12700">
            <a:solidFill>
              <a:schemeClr val="lt1">
                <a:alpha val="7843"/>
              </a:scheme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5" name="Google Shape;245;p24"/>
          <p:cNvSpPr/>
          <p:nvPr/>
        </p:nvSpPr>
        <p:spPr>
          <a:xfrm>
            <a:off x="5040630" y="1097280"/>
            <a:ext cx="3689604" cy="3360420"/>
          </a:xfrm>
          <a:prstGeom prst="roundRect">
            <a:avLst>
              <a:gd fmla="val 1633" name="adj"/>
            </a:avLst>
          </a:prstGeom>
          <a:solidFill>
            <a:schemeClr val="lt1">
              <a:alpha val="7843"/>
            </a:schemeClr>
          </a:solidFill>
          <a:ln cap="flat" cmpd="sng" w="12700">
            <a:solidFill>
              <a:schemeClr val="lt1">
                <a:alpha val="7843"/>
              </a:scheme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6" name="Google Shape;246;p24"/>
          <p:cNvSpPr txBox="1"/>
          <p:nvPr/>
        </p:nvSpPr>
        <p:spPr>
          <a:xfrm>
            <a:off x="617220" y="1234440"/>
            <a:ext cx="404622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i="0" lang="en" sz="1100" u="none" cap="none" strike="noStrike">
                <a:solidFill>
                  <a:schemeClr val="accent2"/>
                </a:solidFill>
                <a:latin typeface="Calibri"/>
                <a:ea typeface="Calibri"/>
                <a:cs typeface="Calibri"/>
                <a:sym typeface="Calibri"/>
              </a:rPr>
              <a:t>BE CAUTIOUS ABOUT</a:t>
            </a:r>
            <a:endParaRPr b="0" i="0" sz="1100" u="none" cap="none" strike="noStrike">
              <a:solidFill>
                <a:schemeClr val="dk1"/>
              </a:solidFill>
              <a:latin typeface="Calibri"/>
              <a:ea typeface="Calibri"/>
              <a:cs typeface="Calibri"/>
              <a:sym typeface="Calibri"/>
            </a:endParaRPr>
          </a:p>
        </p:txBody>
      </p:sp>
      <p:sp>
        <p:nvSpPr>
          <p:cNvPr id="247" name="Google Shape;247;p24"/>
          <p:cNvSpPr txBox="1"/>
          <p:nvPr/>
        </p:nvSpPr>
        <p:spPr>
          <a:xfrm>
            <a:off x="617220" y="1577340"/>
            <a:ext cx="4046220" cy="2743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 sz="1200" u="none" cap="none" strike="noStrike">
                <a:solidFill>
                  <a:schemeClr val="accent2"/>
                </a:solidFill>
                <a:latin typeface="Calibri"/>
                <a:ea typeface="Calibri"/>
                <a:cs typeface="Calibri"/>
                <a:sym typeface="Calibri"/>
              </a:rPr>
              <a:t>Short history: </a:t>
            </a:r>
            <a:r>
              <a:rPr b="0" i="0" lang="en" sz="1200" u="none" cap="none" strike="noStrike">
                <a:solidFill>
                  <a:schemeClr val="lt1"/>
                </a:solidFill>
                <a:latin typeface="Calibri"/>
                <a:ea typeface="Calibri"/>
                <a:cs typeface="Calibri"/>
                <a:sym typeface="Calibri"/>
              </a:rPr>
              <a:t>13 months only, and December 2011 is partial (data ends 9 Dec). The autumn peak rests on one year.</a:t>
            </a:r>
            <a:endParaRPr b="0" i="0" sz="1200" u="none" cap="none" strike="noStrike">
              <a:solidFill>
                <a:schemeClr val="dk1"/>
              </a:solidFill>
              <a:latin typeface="Calibri"/>
              <a:ea typeface="Calibri"/>
              <a:cs typeface="Calibri"/>
              <a:sym typeface="Calibri"/>
            </a:endParaRPr>
          </a:p>
          <a:p>
            <a:pPr indent="0" lvl="0" marL="0" marR="0" rtl="0" algn="l">
              <a:spcBef>
                <a:spcPts val="1100"/>
              </a:spcBef>
              <a:spcAft>
                <a:spcPts val="0"/>
              </a:spcAft>
              <a:buClr>
                <a:schemeClr val="accent2"/>
              </a:buClr>
              <a:buSzPts val="1200"/>
              <a:buFont typeface="Calibri"/>
              <a:buNone/>
            </a:pPr>
            <a:r>
              <a:rPr b="1" i="0" lang="en" sz="1200" u="none" cap="none" strike="noStrike">
                <a:solidFill>
                  <a:schemeClr val="accent2"/>
                </a:solidFill>
                <a:latin typeface="Calibri"/>
                <a:ea typeface="Calibri"/>
                <a:cs typeface="Calibri"/>
                <a:sym typeface="Calibri"/>
              </a:rPr>
              <a:t>No profit view: </a:t>
            </a:r>
            <a:r>
              <a:rPr b="0" i="0" lang="en" sz="1200" u="none" cap="none" strike="noStrike">
                <a:solidFill>
                  <a:schemeClr val="lt1"/>
                </a:solidFill>
                <a:latin typeface="Calibri"/>
                <a:ea typeface="Calibri"/>
                <a:cs typeface="Calibri"/>
                <a:sym typeface="Calibri"/>
              </a:rPr>
              <a:t>there is no cost or margin data, so findings describe revenue, not profit.</a:t>
            </a:r>
            <a:endParaRPr b="0" i="0" sz="1200" u="none" cap="none" strike="noStrike">
              <a:solidFill>
                <a:schemeClr val="dk1"/>
              </a:solidFill>
              <a:latin typeface="Calibri"/>
              <a:ea typeface="Calibri"/>
              <a:cs typeface="Calibri"/>
              <a:sym typeface="Calibri"/>
            </a:endParaRPr>
          </a:p>
          <a:p>
            <a:pPr indent="0" lvl="0" marL="0" marR="0" rtl="0" algn="l">
              <a:spcBef>
                <a:spcPts val="1100"/>
              </a:spcBef>
              <a:spcAft>
                <a:spcPts val="0"/>
              </a:spcAft>
              <a:buClr>
                <a:schemeClr val="accent2"/>
              </a:buClr>
              <a:buSzPts val="1200"/>
              <a:buFont typeface="Calibri"/>
              <a:buNone/>
            </a:pPr>
            <a:r>
              <a:rPr b="1" i="0" lang="en" sz="1200" u="none" cap="none" strike="noStrike">
                <a:solidFill>
                  <a:schemeClr val="accent2"/>
                </a:solidFill>
                <a:latin typeface="Calibri"/>
                <a:ea typeface="Calibri"/>
                <a:cs typeface="Calibri"/>
                <a:sym typeface="Calibri"/>
              </a:rPr>
              <a:t>Missing customer IDs: </a:t>
            </a:r>
            <a:r>
              <a:rPr b="0" i="0" lang="en" sz="1200" u="none" cap="none" strike="noStrike">
                <a:solidFill>
                  <a:schemeClr val="lt1"/>
                </a:solidFill>
                <a:latin typeface="Calibri"/>
                <a:ea typeface="Calibri"/>
                <a:cs typeface="Calibri"/>
                <a:sym typeface="Calibri"/>
              </a:rPr>
              <a:t>15% of revenue is not linked to a customer, so customer findings cover identified buyers only.</a:t>
            </a:r>
            <a:endParaRPr b="0" i="0" sz="1200" u="none" cap="none" strike="noStrike">
              <a:solidFill>
                <a:schemeClr val="dk1"/>
              </a:solidFill>
              <a:latin typeface="Calibri"/>
              <a:ea typeface="Calibri"/>
              <a:cs typeface="Calibri"/>
              <a:sym typeface="Calibri"/>
            </a:endParaRPr>
          </a:p>
          <a:p>
            <a:pPr indent="0" lvl="0" marL="0" marR="0" rtl="0" algn="l">
              <a:spcBef>
                <a:spcPts val="1100"/>
              </a:spcBef>
              <a:spcAft>
                <a:spcPts val="0"/>
              </a:spcAft>
              <a:buClr>
                <a:schemeClr val="accent2"/>
              </a:buClr>
              <a:buSzPts val="1200"/>
              <a:buFont typeface="Calibri"/>
              <a:buNone/>
            </a:pPr>
            <a:r>
              <a:rPr b="1" i="0" lang="en" sz="1200" u="none" cap="none" strike="noStrike">
                <a:solidFill>
                  <a:schemeClr val="accent2"/>
                </a:solidFill>
                <a:latin typeface="Calibri"/>
                <a:ea typeface="Calibri"/>
                <a:cs typeface="Calibri"/>
                <a:sym typeface="Calibri"/>
              </a:rPr>
              <a:t>Export surprise: </a:t>
            </a:r>
            <a:r>
              <a:rPr b="0" i="0" lang="en" sz="1200" u="none" cap="none" strike="noStrike">
                <a:solidFill>
                  <a:schemeClr val="lt1"/>
                </a:solidFill>
                <a:latin typeface="Calibri"/>
                <a:ea typeface="Calibri"/>
                <a:cs typeface="Calibri"/>
                <a:sym typeface="Calibri"/>
              </a:rPr>
              <a:t>export orders look 72% larger (£813 vs £474), but five accounts make up 46% of export revenue. We cannot say export is more profitable.</a:t>
            </a:r>
            <a:endParaRPr b="0" i="0" sz="1200" u="none" cap="none" strike="noStrike">
              <a:solidFill>
                <a:schemeClr val="dk1"/>
              </a:solidFill>
              <a:latin typeface="Calibri"/>
              <a:ea typeface="Calibri"/>
              <a:cs typeface="Calibri"/>
              <a:sym typeface="Calibri"/>
            </a:endParaRPr>
          </a:p>
        </p:txBody>
      </p:sp>
      <p:sp>
        <p:nvSpPr>
          <p:cNvPr id="248" name="Google Shape;248;p24"/>
          <p:cNvSpPr txBox="1"/>
          <p:nvPr/>
        </p:nvSpPr>
        <p:spPr>
          <a:xfrm>
            <a:off x="5246370" y="1234440"/>
            <a:ext cx="329184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i="0" lang="en" sz="1100" u="none" cap="none" strike="noStrike">
                <a:solidFill>
                  <a:schemeClr val="accent2"/>
                </a:solidFill>
                <a:latin typeface="Calibri"/>
                <a:ea typeface="Calibri"/>
                <a:cs typeface="Calibri"/>
                <a:sym typeface="Calibri"/>
              </a:rPr>
              <a:t>WHAT TO ANALYSE NEXT</a:t>
            </a:r>
            <a:endParaRPr b="0" i="0" sz="1100" u="none" cap="none" strike="noStrike">
              <a:solidFill>
                <a:schemeClr val="dk1"/>
              </a:solidFill>
              <a:latin typeface="Calibri"/>
              <a:ea typeface="Calibri"/>
              <a:cs typeface="Calibri"/>
              <a:sym typeface="Calibri"/>
            </a:endParaRPr>
          </a:p>
        </p:txBody>
      </p:sp>
      <p:sp>
        <p:nvSpPr>
          <p:cNvPr id="249" name="Google Shape;249;p24"/>
          <p:cNvSpPr txBox="1"/>
          <p:nvPr/>
        </p:nvSpPr>
        <p:spPr>
          <a:xfrm>
            <a:off x="5246370" y="1577340"/>
            <a:ext cx="3291840" cy="2743200"/>
          </a:xfrm>
          <a:prstGeom prst="rect">
            <a:avLst/>
          </a:prstGeom>
          <a:noFill/>
          <a:ln>
            <a:noFill/>
          </a:ln>
        </p:spPr>
        <p:txBody>
          <a:bodyPr anchorCtr="0" anchor="t" bIns="0" lIns="0" spcFirstLastPara="1" rIns="0" wrap="square" tIns="0">
            <a:noAutofit/>
          </a:bodyPr>
          <a:lstStyle/>
          <a:p>
            <a:pPr indent="-215900" lvl="0" marL="215900" marR="0" rtl="0" algn="l">
              <a:spcBef>
                <a:spcPts val="0"/>
              </a:spcBef>
              <a:spcAft>
                <a:spcPts val="0"/>
              </a:spcAft>
              <a:buClr>
                <a:schemeClr val="lt1"/>
              </a:buClr>
              <a:buSzPts val="1200"/>
              <a:buFont typeface="Cambria"/>
              <a:buAutoNum type="arabicPeriod"/>
            </a:pPr>
            <a:r>
              <a:rPr b="0" i="0" lang="en" sz="1200" u="none" cap="none" strike="noStrike">
                <a:solidFill>
                  <a:schemeClr val="lt1"/>
                </a:solidFill>
                <a:latin typeface="Calibri"/>
                <a:ea typeface="Calibri"/>
                <a:cs typeface="Calibri"/>
                <a:sym typeface="Calibri"/>
              </a:rPr>
              <a:t>Add cost data to see profit by customer and product.</a:t>
            </a:r>
            <a:endParaRPr b="0" i="0" sz="1200" u="none" cap="none" strike="noStrike">
              <a:solidFill>
                <a:schemeClr val="dk1"/>
              </a:solidFill>
              <a:latin typeface="Calibri"/>
              <a:ea typeface="Calibri"/>
              <a:cs typeface="Calibri"/>
              <a:sym typeface="Calibri"/>
            </a:endParaRPr>
          </a:p>
          <a:p>
            <a:pPr indent="-215900" lvl="0" marL="215900" marR="0" rtl="0" algn="l">
              <a:spcBef>
                <a:spcPts val="1200"/>
              </a:spcBef>
              <a:spcAft>
                <a:spcPts val="0"/>
              </a:spcAft>
              <a:buClr>
                <a:schemeClr val="lt1"/>
              </a:buClr>
              <a:buSzPts val="1200"/>
              <a:buFont typeface="Cambria"/>
              <a:buAutoNum type="arabicPeriod"/>
            </a:pPr>
            <a:r>
              <a:rPr b="0" i="0" lang="en" sz="1200" u="none" cap="none" strike="noStrike">
                <a:solidFill>
                  <a:schemeClr val="lt1"/>
                </a:solidFill>
                <a:latin typeface="Calibri"/>
                <a:ea typeface="Calibri"/>
                <a:cs typeface="Calibri"/>
                <a:sym typeface="Calibri"/>
              </a:rPr>
              <a:t>Add a second year of sales to confirm the seasonal pattern.</a:t>
            </a:r>
            <a:endParaRPr b="0" i="0" sz="1200" u="none" cap="none" strike="noStrike">
              <a:solidFill>
                <a:schemeClr val="dk1"/>
              </a:solidFill>
              <a:latin typeface="Calibri"/>
              <a:ea typeface="Calibri"/>
              <a:cs typeface="Calibri"/>
              <a:sym typeface="Calibri"/>
            </a:endParaRPr>
          </a:p>
          <a:p>
            <a:pPr indent="-215900" lvl="0" marL="215900" marR="0" rtl="0" algn="l">
              <a:spcBef>
                <a:spcPts val="1200"/>
              </a:spcBef>
              <a:spcAft>
                <a:spcPts val="0"/>
              </a:spcAft>
              <a:buClr>
                <a:schemeClr val="lt1"/>
              </a:buClr>
              <a:buSzPts val="1200"/>
              <a:buFont typeface="Cambria"/>
              <a:buAutoNum type="arabicPeriod"/>
            </a:pPr>
            <a:r>
              <a:rPr b="0" i="0" lang="en" sz="1200" u="none" cap="none" strike="noStrike">
                <a:solidFill>
                  <a:schemeClr val="lt1"/>
                </a:solidFill>
                <a:latin typeface="Calibri"/>
                <a:ea typeface="Calibri"/>
                <a:cs typeface="Calibri"/>
                <a:sym typeface="Calibri"/>
              </a:rPr>
              <a:t>Add customer details (trade or shopper) and learn why the top export accounts buy so much.</a:t>
            </a:r>
            <a:endParaRPr b="0" i="0" sz="1200" u="none" cap="none" strike="noStrike">
              <a:solidFill>
                <a:schemeClr val="dk1"/>
              </a:solidFill>
              <a:latin typeface="Calibri"/>
              <a:ea typeface="Calibri"/>
              <a:cs typeface="Calibri"/>
              <a:sym typeface="Calibri"/>
            </a:endParaRPr>
          </a:p>
          <a:p>
            <a:pPr indent="-215900" lvl="0" marL="215900" marR="0" rtl="0" algn="l">
              <a:spcBef>
                <a:spcPts val="1200"/>
              </a:spcBef>
              <a:spcAft>
                <a:spcPts val="0"/>
              </a:spcAft>
              <a:buClr>
                <a:schemeClr val="lt1"/>
              </a:buClr>
              <a:buSzPts val="1200"/>
              <a:buFont typeface="Cambria"/>
              <a:buAutoNum type="arabicPeriod"/>
            </a:pPr>
            <a:r>
              <a:rPr b="0" i="0" lang="en" sz="1200" u="none" cap="none" strike="noStrike">
                <a:solidFill>
                  <a:schemeClr val="lt1"/>
                </a:solidFill>
                <a:latin typeface="Calibri"/>
                <a:ea typeface="Calibri"/>
                <a:cs typeface="Calibri"/>
                <a:sym typeface="Calibri"/>
              </a:rPr>
              <a:t>Pilot the win-back offer and measure the results.</a:t>
            </a:r>
            <a:endParaRPr b="0" i="0" sz="1200" u="none" cap="none" strike="noStrike">
              <a:solidFill>
                <a:schemeClr val="dk1"/>
              </a:solidFill>
              <a:latin typeface="Calibri"/>
              <a:ea typeface="Calibri"/>
              <a:cs typeface="Calibri"/>
              <a:sym typeface="Calibri"/>
            </a:endParaRPr>
          </a:p>
        </p:txBody>
      </p:sp>
      <p:sp>
        <p:nvSpPr>
          <p:cNvPr id="250" name="Google Shape;250;p24"/>
          <p:cNvSpPr txBox="1"/>
          <p:nvPr>
            <p:ph idx="4294967295" type="sldNum"/>
          </p:nvPr>
        </p:nvSpPr>
        <p:spPr>
          <a:xfrm>
            <a:off x="8298180" y="4800600"/>
            <a:ext cx="411480" cy="20574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800" u="none" cap="none" strike="noStrike">
                <a:solidFill>
                  <a:schemeClr val="accent6"/>
                </a:solidFill>
                <a:latin typeface="Calibri"/>
                <a:ea typeface="Calibri"/>
                <a:cs typeface="Calibri"/>
                <a:sym typeface="Calibri"/>
              </a:rPr>
              <a:t>‹#›</a:t>
            </a:fld>
            <a:endParaRPr b="0" i="0" sz="800" u="none" cap="none" strike="noStrike">
              <a:solidFill>
                <a:schemeClr val="accent6"/>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ail Review">
  <a:themeElements>
    <a:clrScheme name="Retail Review">
      <a:dk1>
        <a:srgbClr val="1D2B36"/>
      </a:dk1>
      <a:lt1>
        <a:srgbClr val="FFFFFF"/>
      </a:lt1>
      <a:dk2>
        <a:srgbClr val="12343B"/>
      </a:dk2>
      <a:lt2>
        <a:srgbClr val="F1F5F6"/>
      </a:lt2>
      <a:accent1>
        <a:srgbClr val="0F5C63"/>
      </a:accent1>
      <a:accent2>
        <a:srgbClr val="E8A33D"/>
      </a:accent2>
      <a:accent3>
        <a:srgbClr val="C8553D"/>
      </a:accent3>
      <a:accent4>
        <a:srgbClr val="5F7079"/>
      </a:accent4>
      <a:accent5>
        <a:srgbClr val="5BA8A0"/>
      </a:accent5>
      <a:accent6>
        <a:srgbClr val="B9C7CC"/>
      </a:accent6>
      <a:hlink>
        <a:srgbClr val="0F5C63"/>
      </a:hlink>
      <a:folHlink>
        <a:srgbClr val="5F707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